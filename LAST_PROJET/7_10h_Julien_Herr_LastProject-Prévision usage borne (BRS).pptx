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56" r:id="rId5"/>
    <p:sldId id="265" r:id="rId6"/>
    <p:sldId id="285" r:id="rId7"/>
    <p:sldId id="259" r:id="rId8"/>
    <p:sldId id="260" r:id="rId9"/>
    <p:sldId id="261" r:id="rId10"/>
    <p:sldId id="262" r:id="rId11"/>
    <p:sldId id="263" r:id="rId12"/>
    <p:sldId id="264" r:id="rId13"/>
    <p:sldId id="307" r:id="rId14"/>
    <p:sldId id="25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0F8FBBD8-2CDA-624A-810B-814C11635D12}">
          <p14:sldIdLst>
            <p14:sldId id="256"/>
            <p14:sldId id="265"/>
            <p14:sldId id="285"/>
            <p14:sldId id="259"/>
            <p14:sldId id="260"/>
            <p14:sldId id="261"/>
            <p14:sldId id="262"/>
            <p14:sldId id="263"/>
            <p14:sldId id="264"/>
            <p14:sldId id="307"/>
          </p14:sldIdLst>
        </p14:section>
        <p14:section name="Bibliothèque" id="{AD9CBF74-60E0-5B42-84B8-BD009159DA34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638"/>
  </p:normalViewPr>
  <p:slideViewPr>
    <p:cSldViewPr snapToGrid="0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2FFD1-C229-7B4B-ACF4-BC0EA057C5AB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3E53A-3272-8746-B220-D1F0E9506E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93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DB47-FF6C-5F4F-927D-85E3FF409BB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54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BBB2B0D-0CFA-4E8E-8195-E9CFCBCA26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5181" y="2796552"/>
            <a:ext cx="7013490" cy="1564774"/>
          </a:xfrm>
          <a:prstGeom prst="rect">
            <a:avLst/>
          </a:prstGeom>
        </p:spPr>
        <p:txBody>
          <a:bodyPr anchor="ctr"/>
          <a:lstStyle>
            <a:lvl1pPr algn="l">
              <a:buNone/>
              <a:defRPr sz="4400" b="1">
                <a:solidFill>
                  <a:srgbClr val="2D2E83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fr-FR" dirty="0"/>
              <a:t>Cliquer pour</a:t>
            </a:r>
          </a:p>
          <a:p>
            <a:pPr lvl="0"/>
            <a:r>
              <a:rPr lang="fr-FR" dirty="0"/>
              <a:t>modifier le titre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CEBAC7C-529D-406E-8A1D-91F5D7750E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5181" y="4613454"/>
            <a:ext cx="7013490" cy="69833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2"/>
                </a:solidFill>
                <a:latin typeface="Montserrat" panose="00000500000000000000" pitchFamily="2" charset="0"/>
              </a:defRPr>
            </a:lvl1pPr>
            <a:lvl2pPr algn="l">
              <a:buNone/>
              <a:defRPr sz="1800">
                <a:solidFill>
                  <a:srgbClr val="2D2E8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fr-FR"/>
              <a:t>Cliquer pour modifier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C882672-0960-4ACF-A075-B2B8A9FA4D3A}"/>
              </a:ext>
            </a:extLst>
          </p:cNvPr>
          <p:cNvSpPr txBox="1"/>
          <p:nvPr/>
        </p:nvSpPr>
        <p:spPr>
          <a:xfrm>
            <a:off x="1107097" y="6414497"/>
            <a:ext cx="9977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0" dirty="0">
                <a:solidFill>
                  <a:schemeClr val="tx1"/>
                </a:solidFill>
                <a:latin typeface="+mj-lt"/>
              </a:rPr>
              <a:t>Borne Recharge Service - 18 bis rue Molitor – 75016 PARIS  </a:t>
            </a:r>
            <a:r>
              <a:rPr lang="fr-FR" sz="1100" b="0" dirty="0">
                <a:latin typeface="+mj-lt"/>
              </a:rPr>
              <a:t>|  </a:t>
            </a:r>
            <a:r>
              <a:rPr lang="fr-FR" sz="1100" b="0" dirty="0">
                <a:solidFill>
                  <a:schemeClr val="tx2"/>
                </a:solidFill>
                <a:latin typeface="+mj-lt"/>
              </a:rPr>
              <a:t>www.bornerecharge.com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7E4E3E-211E-87B6-0CA5-DF8F4477C5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2643" y="0"/>
            <a:ext cx="3791713" cy="685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D6F2A0F-676B-B13C-EFC3-4853DEDD7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9768" y="528149"/>
            <a:ext cx="2448903" cy="16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6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6E341F-70B2-4248-B934-B847C1BF6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10700" y="6318418"/>
            <a:ext cx="1276350" cy="361948"/>
          </a:xfrm>
        </p:spPr>
        <p:txBody>
          <a:bodyPr/>
          <a:lstStyle>
            <a:lvl1pPr algn="r">
              <a:defRPr sz="1000"/>
            </a:lvl1pPr>
          </a:lstStyle>
          <a:p>
            <a:fld id="{BEED293D-DBDC-4942-9578-6871EB431AD1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1E694A-F36D-47F3-9528-2674EA9D62D5}"/>
              </a:ext>
            </a:extLst>
          </p:cNvPr>
          <p:cNvSpPr txBox="1"/>
          <p:nvPr/>
        </p:nvSpPr>
        <p:spPr>
          <a:xfrm>
            <a:off x="802341" y="6391670"/>
            <a:ext cx="10496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dirty="0">
                <a:latin typeface="+mj-lt"/>
              </a:rPr>
              <a:t>Borne Recharge Service - 18 bis rue Molitor – 75016 PARIS |  </a:t>
            </a:r>
            <a:r>
              <a:rPr lang="fr-FR" sz="800" b="0" dirty="0">
                <a:solidFill>
                  <a:schemeClr val="tx2"/>
                </a:solidFill>
                <a:latin typeface="+mj-lt"/>
              </a:rPr>
              <a:t>www.bornerecharge.com 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A80ADF28-74BA-4ACD-86CB-EF4DB5B318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581150"/>
            <a:ext cx="10496550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E9EF411-1277-4D52-9C5A-624AD9399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2508" y="6184269"/>
            <a:ext cx="715641" cy="4818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6E1193-BBAC-4FCC-A388-919944FC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517"/>
            <a:ext cx="10515600" cy="1022114"/>
          </a:xfrm>
          <a:prstGeom prst="rect">
            <a:avLst/>
          </a:prstGeom>
        </p:spPr>
        <p:txBody>
          <a:bodyPr anchor="ctr"/>
          <a:lstStyle>
            <a:lvl1pPr>
              <a:defRPr sz="3200" b="0">
                <a:solidFill>
                  <a:schemeClr val="tx2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5" name="Image 4" descr="Une image contenant Graphique, capture d’écran, graphisme, triangle&#10;&#10;Description générée automatiquement">
            <a:extLst>
              <a:ext uri="{FF2B5EF4-FFF2-40B4-BE49-F238E27FC236}">
                <a16:creationId xmlns:a16="http://schemas.microsoft.com/office/drawing/2014/main" id="{257EE862-6AF7-D4FA-8947-0645EDF586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5"/>
          <a:stretch/>
        </p:blipFill>
        <p:spPr>
          <a:xfrm flipH="1">
            <a:off x="8217314" y="0"/>
            <a:ext cx="2935194" cy="646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3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7FF8764F-4207-93FD-D1AB-A164B596B7BE}"/>
              </a:ext>
            </a:extLst>
          </p:cNvPr>
          <p:cNvGrpSpPr/>
          <p:nvPr userDrawn="1"/>
        </p:nvGrpSpPr>
        <p:grpSpPr>
          <a:xfrm flipH="1">
            <a:off x="6424305" y="-23906"/>
            <a:ext cx="5767695" cy="8099165"/>
            <a:chOff x="0" y="3175"/>
            <a:chExt cx="5767695" cy="80991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5C2AF8-7345-E3E9-6C41-691115F86A8C}"/>
                </a:ext>
              </a:extLst>
            </p:cNvPr>
            <p:cNvSpPr/>
            <p:nvPr/>
          </p:nvSpPr>
          <p:spPr>
            <a:xfrm>
              <a:off x="0" y="27081"/>
              <a:ext cx="5740400" cy="683409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" name="Image 7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A4E7BB98-26FF-4301-14CB-2EA86F033C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2936" t="5582" r="-1"/>
            <a:stretch/>
          </p:blipFill>
          <p:spPr>
            <a:xfrm flipH="1">
              <a:off x="3061264" y="3175"/>
              <a:ext cx="2706431" cy="8099165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6E341F-70B2-4248-B934-B847C1BF6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10700" y="6318418"/>
            <a:ext cx="1276350" cy="361948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BEED293D-DBDC-4942-9578-6871EB431A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A80ADF28-74BA-4ACD-86CB-EF4DB5B318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5218" y="1580120"/>
            <a:ext cx="7178722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6E1193-BBAC-4FCC-A388-919944FC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18" y="364095"/>
            <a:ext cx="7199661" cy="957763"/>
          </a:xfrm>
          <a:prstGeom prst="rect">
            <a:avLst/>
          </a:prstGeom>
        </p:spPr>
        <p:txBody>
          <a:bodyPr anchor="ctr"/>
          <a:lstStyle>
            <a:lvl1pPr>
              <a:defRPr sz="3200" b="0">
                <a:solidFill>
                  <a:schemeClr val="tx2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1E694A-F36D-47F3-9528-2674EA9D62D5}"/>
              </a:ext>
            </a:extLst>
          </p:cNvPr>
          <p:cNvSpPr txBox="1"/>
          <p:nvPr/>
        </p:nvSpPr>
        <p:spPr>
          <a:xfrm>
            <a:off x="812800" y="6384295"/>
            <a:ext cx="10496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dirty="0">
                <a:solidFill>
                  <a:schemeClr val="bg1"/>
                </a:solidFill>
                <a:latin typeface="+mj-lt"/>
              </a:rPr>
              <a:t>Borne Recharge Service - 18 bis rue </a:t>
            </a:r>
            <a:r>
              <a:rPr lang="fr-FR" sz="800" b="0" dirty="0">
                <a:latin typeface="+mj-lt"/>
              </a:rPr>
              <a:t>Molitor – 75016 PARIS |  </a:t>
            </a:r>
            <a:r>
              <a:rPr lang="fr-FR" sz="800" b="0" dirty="0">
                <a:solidFill>
                  <a:schemeClr val="bg1"/>
                </a:solidFill>
                <a:latin typeface="+mj-lt"/>
              </a:rPr>
              <a:t>www.bornerecharge.com </a:t>
            </a:r>
          </a:p>
        </p:txBody>
      </p:sp>
      <p:pic>
        <p:nvPicPr>
          <p:cNvPr id="15" name="Image 14" descr="Une image contenant Police, Graphique, graphisme, logo&#10;&#10;Description générée automatiquement">
            <a:extLst>
              <a:ext uri="{FF2B5EF4-FFF2-40B4-BE49-F238E27FC236}">
                <a16:creationId xmlns:a16="http://schemas.microsoft.com/office/drawing/2014/main" id="{3F9E7DE5-40F1-D2E6-581A-8A90B310C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139" y="6171323"/>
            <a:ext cx="756685" cy="5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9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6E341F-70B2-4248-B934-B847C1BF6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10700" y="6318418"/>
            <a:ext cx="1276350" cy="361948"/>
          </a:xfr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EED293D-DBDC-4942-9578-6871EB431AD1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E9EF411-1277-4D52-9C5A-624AD9399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2508" y="6184269"/>
            <a:ext cx="715641" cy="48188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81E694A-F36D-47F3-9528-2674EA9D62D5}"/>
              </a:ext>
            </a:extLst>
          </p:cNvPr>
          <p:cNvSpPr txBox="1"/>
          <p:nvPr/>
        </p:nvSpPr>
        <p:spPr>
          <a:xfrm>
            <a:off x="812800" y="6384295"/>
            <a:ext cx="10496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dirty="0">
                <a:solidFill>
                  <a:schemeClr val="bg1"/>
                </a:solidFill>
                <a:latin typeface="+mj-lt"/>
              </a:rPr>
              <a:t>Borne Recharge Service - 18 bis rue </a:t>
            </a:r>
            <a:r>
              <a:rPr lang="fr-FR" sz="800" b="0" dirty="0">
                <a:latin typeface="+mj-lt"/>
              </a:rPr>
              <a:t>Molitor – 75016 PARIS </a:t>
            </a:r>
            <a:r>
              <a:rPr lang="fr-FR" sz="800" b="0" dirty="0">
                <a:solidFill>
                  <a:schemeClr val="tx1"/>
                </a:solidFill>
                <a:latin typeface="+mj-lt"/>
              </a:rPr>
              <a:t>|  www.bornerecharge.com 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1364FDEE-5080-D7CF-A2AA-1B39996DE182}"/>
              </a:ext>
            </a:extLst>
          </p:cNvPr>
          <p:cNvGrpSpPr/>
          <p:nvPr userDrawn="1"/>
        </p:nvGrpSpPr>
        <p:grpSpPr>
          <a:xfrm rot="10800000" flipH="1">
            <a:off x="1" y="-1244341"/>
            <a:ext cx="5767695" cy="8102341"/>
            <a:chOff x="0" y="-1"/>
            <a:chExt cx="5767695" cy="810234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70807E-B854-DF1F-D9C5-29482E7C7014}"/>
                </a:ext>
              </a:extLst>
            </p:cNvPr>
            <p:cNvSpPr/>
            <p:nvPr/>
          </p:nvSpPr>
          <p:spPr>
            <a:xfrm>
              <a:off x="0" y="3175"/>
              <a:ext cx="5740400" cy="6858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1" name="Image 10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83B08600-C1D7-1660-D2CF-00B373B0BE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l="32936" t="5582" r="-1"/>
            <a:stretch/>
          </p:blipFill>
          <p:spPr>
            <a:xfrm flipH="1">
              <a:off x="3061264" y="-1"/>
              <a:ext cx="2706431" cy="8102341"/>
            </a:xfrm>
            <a:prstGeom prst="rect">
              <a:avLst/>
            </a:prstGeom>
          </p:spPr>
        </p:pic>
      </p:grp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A80ADF28-74BA-4ACD-86CB-EF4DB5B318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72500" y="1610387"/>
            <a:ext cx="6420701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6E1193-BBAC-4FCC-A388-919944FC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501" y="430069"/>
            <a:ext cx="6451071" cy="957763"/>
          </a:xfrm>
          <a:prstGeom prst="rect">
            <a:avLst/>
          </a:prstGeom>
        </p:spPr>
        <p:txBody>
          <a:bodyPr anchor="ctr"/>
          <a:lstStyle>
            <a:lvl1pPr>
              <a:defRPr sz="3200" b="0">
                <a:solidFill>
                  <a:schemeClr val="tx2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252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6E341F-70B2-4248-B934-B847C1BF6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10700" y="6318418"/>
            <a:ext cx="1276350" cy="361948"/>
          </a:xfrm>
        </p:spPr>
        <p:txBody>
          <a:bodyPr/>
          <a:lstStyle>
            <a:lvl1pPr algn="r">
              <a:defRPr sz="1000"/>
            </a:lvl1pPr>
          </a:lstStyle>
          <a:p>
            <a:fld id="{BEED293D-DBDC-4942-9578-6871EB431AD1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1E694A-F36D-47F3-9528-2674EA9D62D5}"/>
              </a:ext>
            </a:extLst>
          </p:cNvPr>
          <p:cNvSpPr txBox="1"/>
          <p:nvPr/>
        </p:nvSpPr>
        <p:spPr>
          <a:xfrm>
            <a:off x="838200" y="6384295"/>
            <a:ext cx="10496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dirty="0">
                <a:latin typeface="+mj-lt"/>
              </a:rPr>
              <a:t>Borne Recharge Service - 18 bis rue Molitor – 75016 PARIS |  </a:t>
            </a:r>
            <a:r>
              <a:rPr lang="fr-FR" sz="800" b="0" dirty="0">
                <a:solidFill>
                  <a:schemeClr val="tx2"/>
                </a:solidFill>
                <a:latin typeface="+mj-lt"/>
              </a:rPr>
              <a:t>www.bornerecharge.com 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A80ADF28-74BA-4ACD-86CB-EF4DB5B318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581150"/>
            <a:ext cx="10496550" cy="4419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E9EF411-1277-4D52-9C5A-624AD9399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2508" y="6184269"/>
            <a:ext cx="715641" cy="48188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6E1193-BBAC-4FCC-A388-919944FC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957763"/>
          </a:xfrm>
          <a:prstGeom prst="rect">
            <a:avLst/>
          </a:prstGeom>
        </p:spPr>
        <p:txBody>
          <a:bodyPr anchor="ctr"/>
          <a:lstStyle>
            <a:lvl1pPr>
              <a:defRPr sz="3200" b="0">
                <a:solidFill>
                  <a:schemeClr val="tx2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513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6E341F-70B2-4248-B934-B847C1BF6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10700" y="6318418"/>
            <a:ext cx="1276350" cy="361948"/>
          </a:xfrm>
        </p:spPr>
        <p:txBody>
          <a:bodyPr/>
          <a:lstStyle>
            <a:lvl1pPr algn="r">
              <a:defRPr sz="1000"/>
            </a:lvl1pPr>
          </a:lstStyle>
          <a:p>
            <a:fld id="{BEED293D-DBDC-4942-9578-6871EB431AD1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1E694A-F36D-47F3-9528-2674EA9D62D5}"/>
              </a:ext>
            </a:extLst>
          </p:cNvPr>
          <p:cNvSpPr txBox="1"/>
          <p:nvPr/>
        </p:nvSpPr>
        <p:spPr>
          <a:xfrm>
            <a:off x="838200" y="6384295"/>
            <a:ext cx="10496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 dirty="0">
                <a:latin typeface="+mj-lt"/>
              </a:rPr>
              <a:t>Borne Recharge Service - 18 bis rue Molitor – 75016 PARIS |  </a:t>
            </a:r>
            <a:r>
              <a:rPr lang="fr-FR" sz="800" b="0" dirty="0">
                <a:solidFill>
                  <a:schemeClr val="tx2"/>
                </a:solidFill>
                <a:latin typeface="+mj-lt"/>
              </a:rPr>
              <a:t>www.bornerecharge.com 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E9EF411-1277-4D52-9C5A-624AD9399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2508" y="6184269"/>
            <a:ext cx="715641" cy="48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2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7FF8764F-4207-93FD-D1AB-A164B596B7BE}"/>
              </a:ext>
            </a:extLst>
          </p:cNvPr>
          <p:cNvGrpSpPr/>
          <p:nvPr userDrawn="1"/>
        </p:nvGrpSpPr>
        <p:grpSpPr>
          <a:xfrm flipH="1">
            <a:off x="0" y="0"/>
            <a:ext cx="12192000" cy="8099165"/>
            <a:chOff x="-6274560" y="-1395320"/>
            <a:chExt cx="12192000" cy="80991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5C2AF8-7345-E3E9-6C41-691115F86A8C}"/>
                </a:ext>
              </a:extLst>
            </p:cNvPr>
            <p:cNvSpPr/>
            <p:nvPr/>
          </p:nvSpPr>
          <p:spPr>
            <a:xfrm>
              <a:off x="-6274560" y="-1395320"/>
              <a:ext cx="12192000" cy="6858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" name="Image 7" descr="Une image contenant Graphique&#10;&#10;Description générée automatiquement">
              <a:extLst>
                <a:ext uri="{FF2B5EF4-FFF2-40B4-BE49-F238E27FC236}">
                  <a16:creationId xmlns:a16="http://schemas.microsoft.com/office/drawing/2014/main" id="{A4E7BB98-26FF-4301-14CB-2EA86F033C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32936" t="5582" r="-1"/>
            <a:stretch/>
          </p:blipFill>
          <p:spPr>
            <a:xfrm flipH="1">
              <a:off x="3211009" y="-1395320"/>
              <a:ext cx="2706431" cy="8099165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6E341F-70B2-4248-B934-B847C1BF6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10700" y="6318418"/>
            <a:ext cx="1276350" cy="361948"/>
          </a:xfr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BEED293D-DBDC-4942-9578-6871EB431AD1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6E1193-BBAC-4FCC-A388-919944FC4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446" y="3217530"/>
            <a:ext cx="5454387" cy="957763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1E694A-F36D-47F3-9528-2674EA9D62D5}"/>
              </a:ext>
            </a:extLst>
          </p:cNvPr>
          <p:cNvSpPr txBox="1"/>
          <p:nvPr/>
        </p:nvSpPr>
        <p:spPr>
          <a:xfrm>
            <a:off x="812800" y="6384295"/>
            <a:ext cx="104965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0">
                <a:solidFill>
                  <a:schemeClr val="bg1"/>
                </a:solidFill>
                <a:latin typeface="+mj-lt"/>
              </a:rPr>
              <a:t>Borne Recharge Service - 18 bis rue </a:t>
            </a:r>
            <a:r>
              <a:rPr lang="fr-FR" sz="800" b="0">
                <a:latin typeface="+mj-lt"/>
              </a:rPr>
              <a:t>Molitor – 75016 PARIS |  </a:t>
            </a:r>
            <a:r>
              <a:rPr lang="fr-FR" sz="800" b="0">
                <a:solidFill>
                  <a:schemeClr val="bg1"/>
                </a:solidFill>
                <a:latin typeface="+mj-lt"/>
              </a:rPr>
              <a:t>www.bornerecharge.com </a:t>
            </a:r>
          </a:p>
        </p:txBody>
      </p:sp>
      <p:pic>
        <p:nvPicPr>
          <p:cNvPr id="15" name="Image 14" descr="Une image contenant Police, Graphique, graphisme, logo&#10;&#10;Description générée automatiquement">
            <a:extLst>
              <a:ext uri="{FF2B5EF4-FFF2-40B4-BE49-F238E27FC236}">
                <a16:creationId xmlns:a16="http://schemas.microsoft.com/office/drawing/2014/main" id="{3F9E7DE5-40F1-D2E6-581A-8A90B310C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9139" y="6171323"/>
            <a:ext cx="756685" cy="5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8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9758EA-D6D0-41F9-8BD0-2418C5489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3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2D2E83"/>
                </a:solidFill>
              </a:defRPr>
            </a:lvl1pPr>
          </a:lstStyle>
          <a:p>
            <a:fld id="{BEED293D-DBDC-4942-9578-6871EB431A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716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3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mailto:jherr@bornerecharge.fr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A4FBC4A3-3CBA-9598-6418-A7B96E1F24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5181" y="2796552"/>
            <a:ext cx="7013490" cy="1564774"/>
          </a:xfrm>
        </p:spPr>
        <p:txBody>
          <a:bodyPr/>
          <a:lstStyle/>
          <a:p>
            <a:r>
              <a:rPr lang="fr-FR" dirty="0"/>
              <a:t>Last Project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694D30-C8BE-2031-6EA6-EECFDA61E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85181" y="4613454"/>
            <a:ext cx="7013490" cy="698333"/>
          </a:xfrm>
        </p:spPr>
        <p:txBody>
          <a:bodyPr/>
          <a:lstStyle/>
          <a:p>
            <a:r>
              <a:rPr lang="fr-FR" b="1" dirty="0"/>
              <a:t>Prévision usage borne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72211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BD5835B-9421-2963-6E25-1C07186D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132" y="430069"/>
            <a:ext cx="6304440" cy="957763"/>
          </a:xfrm>
        </p:spPr>
        <p:txBody>
          <a:bodyPr/>
          <a:lstStyle/>
          <a:p>
            <a:pPr algn="ctr"/>
            <a:r>
              <a:rPr lang="fr-FR" b="1"/>
              <a:t>Qui-sommes-nous ?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C08386E-EE9B-E6FC-A930-9C9BF8F215A0}"/>
              </a:ext>
            </a:extLst>
          </p:cNvPr>
          <p:cNvSpPr txBox="1"/>
          <p:nvPr/>
        </p:nvSpPr>
        <p:spPr>
          <a:xfrm>
            <a:off x="475236" y="2281428"/>
            <a:ext cx="355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chemeClr val="bg1"/>
                </a:solidFill>
              </a:rPr>
              <a:t>+ 12 ans 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d’expertise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EC1C13-B4C2-1CFD-75A2-CADD20A0FBC7}"/>
              </a:ext>
            </a:extLst>
          </p:cNvPr>
          <p:cNvSpPr txBox="1"/>
          <p:nvPr/>
        </p:nvSpPr>
        <p:spPr>
          <a:xfrm>
            <a:off x="527123" y="4678284"/>
            <a:ext cx="35560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sz="3600" b="1">
                <a:solidFill>
                  <a:schemeClr val="bg1"/>
                </a:solidFill>
              </a:rPr>
              <a:t>250 000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Places sécurisées 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à pré-équiper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461B29-F811-A97E-2A2C-DCBA8725FF54}"/>
              </a:ext>
            </a:extLst>
          </p:cNvPr>
          <p:cNvSpPr txBox="1"/>
          <p:nvPr/>
        </p:nvSpPr>
        <p:spPr>
          <a:xfrm>
            <a:off x="527123" y="3479856"/>
            <a:ext cx="355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chemeClr val="bg1"/>
                </a:solidFill>
              </a:rPr>
              <a:t>2 200</a:t>
            </a:r>
          </a:p>
          <a:p>
            <a:pPr algn="ctr"/>
            <a:r>
              <a:rPr lang="fr-FR">
                <a:solidFill>
                  <a:schemeClr val="bg1"/>
                </a:solidFill>
              </a:rPr>
              <a:t>bornes déployées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914E9CE-000C-FD58-0FAE-C326A138A666}"/>
              </a:ext>
            </a:extLst>
          </p:cNvPr>
          <p:cNvSpPr/>
          <p:nvPr/>
        </p:nvSpPr>
        <p:spPr>
          <a:xfrm>
            <a:off x="747132" y="1093238"/>
            <a:ext cx="3468030" cy="7657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A1F621BF-0BC1-A2DF-E4E7-3AC11672B7DB}"/>
              </a:ext>
            </a:extLst>
          </p:cNvPr>
          <p:cNvSpPr txBox="1">
            <a:spLocks/>
          </p:cNvSpPr>
          <p:nvPr/>
        </p:nvSpPr>
        <p:spPr>
          <a:xfrm>
            <a:off x="86926" y="1093238"/>
            <a:ext cx="4788442" cy="8534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fr-FR" sz="2000" b="1">
                <a:solidFill>
                  <a:schemeClr val="tx2"/>
                </a:solidFill>
                <a:latin typeface="Montserrat Bold" panose="00000800000000000000" pitchFamily="2" charset="0"/>
              </a:rPr>
              <a:t>Installateur 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fr-FR" sz="2000" b="1">
                <a:solidFill>
                  <a:schemeClr val="tx2"/>
                </a:solidFill>
                <a:latin typeface="Montserrat Bold" panose="00000800000000000000" pitchFamily="2" charset="0"/>
              </a:rPr>
              <a:t>et opérateur IRVE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D025AC-1D52-312F-F6D5-D37456173561}"/>
              </a:ext>
            </a:extLst>
          </p:cNvPr>
          <p:cNvSpPr txBox="1"/>
          <p:nvPr/>
        </p:nvSpPr>
        <p:spPr>
          <a:xfrm>
            <a:off x="6030532" y="2082712"/>
            <a:ext cx="4533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>
                <a:solidFill>
                  <a:schemeClr val="tx2"/>
                </a:solidFill>
              </a:rPr>
              <a:t>Concession de 20 ans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528426C-0719-524A-CAD5-102BE9C0DFF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6401" y="2589176"/>
            <a:ext cx="2158078" cy="602514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E4756DCE-2940-0988-0AA3-0F4B3C466C41}"/>
              </a:ext>
            </a:extLst>
          </p:cNvPr>
          <p:cNvGrpSpPr/>
          <p:nvPr/>
        </p:nvGrpSpPr>
        <p:grpSpPr>
          <a:xfrm>
            <a:off x="5290513" y="1853268"/>
            <a:ext cx="767011" cy="761994"/>
            <a:chOff x="2485586" y="1449117"/>
            <a:chExt cx="1009486" cy="901554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D25300E9-9F88-577E-46E7-DD10D0C3C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85586" y="1449117"/>
              <a:ext cx="1009486" cy="901554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A128028E-4F40-15F7-18D9-C8C46229A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2542" y="1601205"/>
              <a:ext cx="766204" cy="585191"/>
            </a:xfrm>
            <a:prstGeom prst="rect">
              <a:avLst/>
            </a:prstGeom>
          </p:spPr>
        </p:pic>
      </p:grpSp>
      <p:pic>
        <p:nvPicPr>
          <p:cNvPr id="18" name="Picture 8">
            <a:extLst>
              <a:ext uri="{FF2B5EF4-FFF2-40B4-BE49-F238E27FC236}">
                <a16:creationId xmlns:a16="http://schemas.microsoft.com/office/drawing/2014/main" id="{5EE21373-8DAF-1F9E-B68F-62CE23384D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37587" y="5430989"/>
            <a:ext cx="1116668" cy="59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269E6A86-1483-B2A1-5D11-31C013AC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0532" y="5470168"/>
            <a:ext cx="819479" cy="56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logo_logivolt">
            <a:extLst>
              <a:ext uri="{FF2B5EF4-FFF2-40B4-BE49-F238E27FC236}">
                <a16:creationId xmlns:a16="http://schemas.microsoft.com/office/drawing/2014/main" id="{D480EE51-9E76-4702-9D11-4F9B631FB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88235" y="4136340"/>
            <a:ext cx="2089496" cy="30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Présentation - Avere-France">
            <a:extLst>
              <a:ext uri="{FF2B5EF4-FFF2-40B4-BE49-F238E27FC236}">
                <a16:creationId xmlns:a16="http://schemas.microsoft.com/office/drawing/2014/main" id="{EB798E7D-93AA-C88D-43C9-5B9A8EAB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58950" y="5215162"/>
            <a:ext cx="1899857" cy="107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9B04714-6700-3B0A-502C-481BA63B678C}"/>
              </a:ext>
            </a:extLst>
          </p:cNvPr>
          <p:cNvSpPr/>
          <p:nvPr/>
        </p:nvSpPr>
        <p:spPr>
          <a:xfrm>
            <a:off x="6417134" y="3484529"/>
            <a:ext cx="3578787" cy="303647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FF2E9EC-CE6C-F40E-6570-1B40B4EBDC53}"/>
              </a:ext>
            </a:extLst>
          </p:cNvPr>
          <p:cNvSpPr txBox="1"/>
          <p:nvPr/>
        </p:nvSpPr>
        <p:spPr>
          <a:xfrm>
            <a:off x="6559620" y="3479856"/>
            <a:ext cx="3436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chemeClr val="bg1"/>
                </a:solidFill>
                <a:latin typeface="Montserrat Bold" panose="00000800000000000000" pitchFamily="2" charset="0"/>
              </a:rPr>
              <a:t>Opérateur référencé ou agréé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67ACFE8-D358-CF85-4B14-3217714D1470}"/>
              </a:ext>
            </a:extLst>
          </p:cNvPr>
          <p:cNvSpPr/>
          <p:nvPr/>
        </p:nvSpPr>
        <p:spPr>
          <a:xfrm>
            <a:off x="6417134" y="4775372"/>
            <a:ext cx="3578787" cy="303647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DF153D0-5212-7B52-C7D8-69D715BA3565}"/>
              </a:ext>
            </a:extLst>
          </p:cNvPr>
          <p:cNvSpPr txBox="1"/>
          <p:nvPr/>
        </p:nvSpPr>
        <p:spPr>
          <a:xfrm>
            <a:off x="6867838" y="4757918"/>
            <a:ext cx="2677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chemeClr val="bg1"/>
                </a:solidFill>
                <a:latin typeface="Montserrat Bold" panose="00000800000000000000" pitchFamily="2" charset="0"/>
              </a:rPr>
              <a:t>Membre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5C820C7-580C-4CE8-7F65-0C76806B1B2F}"/>
              </a:ext>
            </a:extLst>
          </p:cNvPr>
          <p:cNvSpPr txBox="1"/>
          <p:nvPr/>
        </p:nvSpPr>
        <p:spPr>
          <a:xfrm>
            <a:off x="6715380" y="2412474"/>
            <a:ext cx="4533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>
                <a:solidFill>
                  <a:schemeClr val="tx2"/>
                </a:solidFill>
              </a:rPr>
              <a:t>Pour la pose, opération et maintenance des IRVE sur tout le parc de logement et parkings professionnels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E8AAF88-E046-E28D-DF2C-9E27F6C4FF15}"/>
              </a:ext>
            </a:extLst>
          </p:cNvPr>
          <p:cNvSpPr/>
          <p:nvPr/>
        </p:nvSpPr>
        <p:spPr>
          <a:xfrm>
            <a:off x="6371372" y="1387832"/>
            <a:ext cx="3578787" cy="303647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80F603B-0DEE-05FE-7627-BBC7FC75DF81}"/>
              </a:ext>
            </a:extLst>
          </p:cNvPr>
          <p:cNvSpPr txBox="1"/>
          <p:nvPr/>
        </p:nvSpPr>
        <p:spPr>
          <a:xfrm>
            <a:off x="6833715" y="1370378"/>
            <a:ext cx="2677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>
                <a:solidFill>
                  <a:schemeClr val="bg1"/>
                </a:solidFill>
                <a:latin typeface="Montserrat Bold" panose="00000800000000000000" pitchFamily="2" charset="0"/>
              </a:rPr>
              <a:t>Partenariat exclusif</a:t>
            </a:r>
          </a:p>
        </p:txBody>
      </p:sp>
      <p:pic>
        <p:nvPicPr>
          <p:cNvPr id="1026" name="Picture 2" descr="Subvention Advenir, aide pour financer les bornes- Indelec ...">
            <a:extLst>
              <a:ext uri="{FF2B5EF4-FFF2-40B4-BE49-F238E27FC236}">
                <a16:creationId xmlns:a16="http://schemas.microsoft.com/office/drawing/2014/main" id="{D3397210-4EFD-26A6-B197-B2334D67F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9409" y="4089264"/>
            <a:ext cx="1794912" cy="53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68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9FE621D-3AA9-15EF-E8D5-CD4FD833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Nos solutions de recharge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C28B96-1865-1E3A-2394-1947FB313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314" y="1717111"/>
            <a:ext cx="2916481" cy="2024684"/>
          </a:xfrm>
          <a:prstGeom prst="rect">
            <a:avLst/>
          </a:prstGeom>
        </p:spPr>
      </p:pic>
      <p:pic>
        <p:nvPicPr>
          <p:cNvPr id="6" name="Picture 2" descr="illustration - voiture électrique - maison - borne recharge">
            <a:extLst>
              <a:ext uri="{FF2B5EF4-FFF2-40B4-BE49-F238E27FC236}">
                <a16:creationId xmlns:a16="http://schemas.microsoft.com/office/drawing/2014/main" id="{339BAE5D-4F44-F848-1571-62CAA79EC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208" y="2344621"/>
            <a:ext cx="3321735" cy="173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0AB958B-3E43-886B-CAB4-A1C4112A0235}"/>
              </a:ext>
            </a:extLst>
          </p:cNvPr>
          <p:cNvSpPr/>
          <p:nvPr/>
        </p:nvSpPr>
        <p:spPr>
          <a:xfrm>
            <a:off x="1215128" y="1543289"/>
            <a:ext cx="2916481" cy="60298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2"/>
                </a:solidFill>
              </a:rPr>
              <a:t>Bornes privatives en parking intérieur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6A7546F-BFF6-C5A1-5B5B-C932C0C46D65}"/>
              </a:ext>
            </a:extLst>
          </p:cNvPr>
          <p:cNvSpPr/>
          <p:nvPr/>
        </p:nvSpPr>
        <p:spPr>
          <a:xfrm>
            <a:off x="6252883" y="2013144"/>
            <a:ext cx="2350358" cy="60298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2"/>
                </a:solidFill>
              </a:rPr>
              <a:t>Bornes privatives en maison</a:t>
            </a:r>
          </a:p>
        </p:txBody>
      </p:sp>
      <p:pic>
        <p:nvPicPr>
          <p:cNvPr id="12" name="Image 11" descr="Une image contenant Véhicule terrestre, véhicule, voiture, roue&#10;&#10;Description générée automatiquement">
            <a:extLst>
              <a:ext uri="{FF2B5EF4-FFF2-40B4-BE49-F238E27FC236}">
                <a16:creationId xmlns:a16="http://schemas.microsoft.com/office/drawing/2014/main" id="{6AAC69AE-F128-2EA8-A3A6-376973D56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336" y="4285190"/>
            <a:ext cx="4242547" cy="2205814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A7DCE2B-4C5F-82CF-2896-E2707592E088}"/>
              </a:ext>
            </a:extLst>
          </p:cNvPr>
          <p:cNvSpPr/>
          <p:nvPr/>
        </p:nvSpPr>
        <p:spPr>
          <a:xfrm>
            <a:off x="5784476" y="4953290"/>
            <a:ext cx="2983007" cy="60298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2"/>
                </a:solidFill>
              </a:rPr>
              <a:t>Bornes privatives en  parking extérieur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C5A026F-53E2-B1B0-129D-2FC849AE4BEB}"/>
              </a:ext>
            </a:extLst>
          </p:cNvPr>
          <p:cNvSpPr/>
          <p:nvPr/>
        </p:nvSpPr>
        <p:spPr>
          <a:xfrm>
            <a:off x="3196754" y="3536869"/>
            <a:ext cx="3056129" cy="60298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accent1"/>
                </a:solidFill>
              </a:rPr>
              <a:t>Bornes partagées parking intérieur/extérieur</a:t>
            </a:r>
          </a:p>
        </p:txBody>
      </p:sp>
    </p:spTree>
    <p:extLst>
      <p:ext uri="{BB962C8B-B14F-4D97-AF65-F5344CB8AC3E}">
        <p14:creationId xmlns:p14="http://schemas.microsoft.com/office/powerpoint/2010/main" val="248319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AA18-D989-0990-4300-C70270E3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A9D1037-8103-13F9-75AC-ECF11A6E1E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r-FR" dirty="0"/>
              <a:t>Coûts d’usage</a:t>
            </a:r>
          </a:p>
          <a:p>
            <a:pPr lvl="1"/>
            <a:r>
              <a:rPr lang="fr-FR" dirty="0"/>
              <a:t>Qui souhaite payer 15€/mois/borne pour utiliser sa borne ?</a:t>
            </a:r>
          </a:p>
          <a:p>
            <a:r>
              <a:rPr lang="fr-FR" dirty="0"/>
              <a:t>Impacts sur le réseau électrique</a:t>
            </a:r>
          </a:p>
          <a:p>
            <a:pPr lvl="1"/>
            <a:r>
              <a:rPr lang="fr-FR" dirty="0"/>
              <a:t>Que se passe-t-il si tout le monde branche son véhicule en rentrant ?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73F924A-7345-CEF2-DC42-04764024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Enjeux futurs de l’électromobilité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276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B4BE-01A6-C0C8-039C-79CA0251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2D57EB6-3CD9-8F47-53BE-A800E37B188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r-FR" dirty="0"/>
              <a:t>« L’effacement de l’électricité désigne l’action temporaire de réduction de la consommation électrique par un industriel ou un particulier. »</a:t>
            </a:r>
          </a:p>
          <a:p>
            <a:r>
              <a:rPr lang="fr-FR" dirty="0"/>
              <a:t>Opérateur de flexibilité</a:t>
            </a:r>
          </a:p>
          <a:p>
            <a:pPr lvl="1"/>
            <a:r>
              <a:rPr lang="fr-FR" dirty="0"/>
              <a:t>Mission : réduire la consommation électrique prévisionnelle à la demande de RTE</a:t>
            </a:r>
          </a:p>
          <a:p>
            <a:r>
              <a:rPr lang="fr-FR" dirty="0"/>
              <a:t>La réduction effective est rémunérée par RTE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835E873-4E0D-8727-0328-54BF5A17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Solution : effacement</a:t>
            </a:r>
            <a:endParaRPr lang="fr-FR" dirty="0"/>
          </a:p>
        </p:txBody>
      </p:sp>
      <p:pic>
        <p:nvPicPr>
          <p:cNvPr id="4" name="Picture 2" descr="LOGO-SYMPHONICS-2023-FINAL">
            <a:extLst>
              <a:ext uri="{FF2B5EF4-FFF2-40B4-BE49-F238E27FC236}">
                <a16:creationId xmlns:a16="http://schemas.microsoft.com/office/drawing/2014/main" id="{4A00F397-7034-9E36-A077-E30ED092C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131" y="2643068"/>
            <a:ext cx="1976577" cy="67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25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1860-2AB5-DE2B-8E66-335B612B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9021550-8BCB-773A-6C2A-8D323CC2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Effacement : fonctionnement</a:t>
            </a:r>
            <a:endParaRPr lang="fr-FR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43B3C3AD-AC09-B620-17DF-9EE1CFBBE48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470025" y="1638300"/>
            <a:ext cx="9232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2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0C23-F189-2A4C-1AE6-79EABECE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BE95388-705A-B010-D451-38C6BC6AC3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r-FR" dirty="0"/>
              <a:t>Etape « calcul de la puissance disponible pour J »</a:t>
            </a:r>
          </a:p>
          <a:p>
            <a:r>
              <a:rPr lang="fr-FR" dirty="0"/>
              <a:t>Critère de succès : une API permettant de connaitre au niveau borne/site/parc  </a:t>
            </a:r>
          </a:p>
          <a:p>
            <a:pPr lvl="1"/>
            <a:r>
              <a:rPr lang="fr-FR" dirty="0"/>
              <a:t>le prévisionnel d’usage pour une période donnée</a:t>
            </a:r>
          </a:p>
          <a:p>
            <a:pPr lvl="1"/>
            <a:r>
              <a:rPr lang="fr-FR" dirty="0"/>
              <a:t>la date de fin de charge prévisionnelle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FF87537-EDB8-16B6-7838-1BE8554F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Objet du </a:t>
            </a:r>
            <a:r>
              <a:rPr lang="fr-FR" b="1" dirty="0" err="1"/>
              <a:t>LastProject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96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21C-341C-ED9A-B836-B1B2F2C4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92F4E3-5BA0-3C3B-870F-249017B5BC7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r-FR" dirty="0"/>
              <a:t>Mise à disposition d’un export Mongo avec 18 mois d’historique de charge d’environ 800 bornes</a:t>
            </a:r>
          </a:p>
          <a:p>
            <a:pPr lvl="1"/>
            <a:r>
              <a:rPr lang="fr-FR" dirty="0"/>
              <a:t>Quand : Date de début + Date de fin</a:t>
            </a:r>
          </a:p>
          <a:p>
            <a:pPr lvl="1"/>
            <a:r>
              <a:rPr lang="fr-FR" dirty="0"/>
              <a:t>Où : Borne + Connecteur</a:t>
            </a:r>
          </a:p>
          <a:p>
            <a:pPr lvl="1"/>
            <a:r>
              <a:rPr lang="fr-FR" dirty="0"/>
              <a:t>Quoi : Usage réel au pas de 15min</a:t>
            </a:r>
          </a:p>
          <a:p>
            <a:r>
              <a:rPr lang="fr-FR" dirty="0"/>
              <a:t>Phases possibles</a:t>
            </a:r>
          </a:p>
          <a:p>
            <a:pPr lvl="1"/>
            <a:r>
              <a:rPr lang="fr-FR" dirty="0"/>
              <a:t>Créer un premier modèle à partir du corpus existant + données annexes (météo, </a:t>
            </a:r>
            <a:r>
              <a:rPr lang="fr-FR" dirty="0" err="1"/>
              <a:t>feature</a:t>
            </a:r>
            <a:r>
              <a:rPr lang="fr-FR" dirty="0"/>
              <a:t> temporelle, …)  </a:t>
            </a:r>
          </a:p>
          <a:p>
            <a:pPr lvl="1"/>
            <a:r>
              <a:rPr lang="fr-FR" dirty="0"/>
              <a:t>Exposer le modèle via une API fournissant un prévisionnel (borne/site/parc), facilement intégrable dans le SI  </a:t>
            </a:r>
          </a:p>
          <a:p>
            <a:pPr lvl="1"/>
            <a:r>
              <a:rPr lang="fr-FR" dirty="0"/>
              <a:t>Automatiser la génération du modèle à partir des données  </a:t>
            </a:r>
          </a:p>
          <a:p>
            <a:pPr lvl="1"/>
            <a:r>
              <a:rPr lang="fr-FR" dirty="0"/>
              <a:t>Maintenir le corpus à jour dans un stockage de données adapté (écoute en temps réel des événements du SI)  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3AF9D63-B644-5383-7CE9-326BAE36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Objet du </a:t>
            </a:r>
            <a:r>
              <a:rPr lang="fr-FR" b="1" dirty="0" err="1"/>
              <a:t>LastProject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37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BD725-DE94-B627-BCD1-9B4A313B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F4F9D3A-5C2F-1DF6-53BB-2445263E4C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fr-FR" dirty="0"/>
              <a:t>Pas de contrainte</a:t>
            </a:r>
          </a:p>
          <a:p>
            <a:r>
              <a:rPr lang="fr-FR" dirty="0"/>
              <a:t>Idéalement Java/Spring</a:t>
            </a:r>
          </a:p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D9DF8CE-596F-D341-C2FD-32995E22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Contraintes du projet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479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7873B43-7C1E-9A0F-FFEF-98A06784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82" y="2471237"/>
            <a:ext cx="6835652" cy="957763"/>
          </a:xfrm>
        </p:spPr>
        <p:txBody>
          <a:bodyPr/>
          <a:lstStyle/>
          <a:p>
            <a:r>
              <a:rPr lang="en-US" sz="2400" dirty="0"/>
              <a:t>Nous </a:t>
            </a:r>
            <a:r>
              <a:rPr lang="en-US" sz="2400" dirty="0" err="1"/>
              <a:t>contacter</a:t>
            </a: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</a:t>
            </a:r>
            <a:br>
              <a:rPr lang="fr-FR" sz="2400" dirty="0"/>
            </a:br>
            <a:r>
              <a:rPr lang="fr-FR" dirty="0"/>
              <a:t>Julien Herr</a:t>
            </a:r>
            <a:br>
              <a:rPr lang="fr-FR" dirty="0"/>
            </a:br>
            <a:r>
              <a:rPr lang="fr-FR" sz="1800" cap="all" dirty="0" err="1"/>
              <a:t>DirecTEUR</a:t>
            </a:r>
            <a:r>
              <a:rPr lang="fr-FR" sz="1800" cap="all" dirty="0"/>
              <a:t> Technique</a:t>
            </a:r>
            <a:br>
              <a:rPr lang="fr-FR" sz="1800" cap="all" dirty="0"/>
            </a:br>
            <a:r>
              <a:rPr lang="fr-FR" sz="2400" dirty="0"/>
              <a:t>Mail : </a:t>
            </a:r>
            <a:r>
              <a:rPr lang="fr-F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jherr@bornerecharge.fr</a:t>
            </a:r>
            <a:br>
              <a:rPr lang="fr-FR" sz="2400" dirty="0"/>
            </a:br>
            <a:r>
              <a:rPr lang="fr-FR" sz="2400" dirty="0"/>
              <a:t>Tel : 06.67.53.03.96</a:t>
            </a:r>
            <a:endParaRPr lang="fr-FR" sz="2400" b="0" dirty="0"/>
          </a:p>
        </p:txBody>
      </p:sp>
      <p:pic>
        <p:nvPicPr>
          <p:cNvPr id="2" name="Picture 2" descr="BRS-Julien-Herr">
            <a:extLst>
              <a:ext uri="{FF2B5EF4-FFF2-40B4-BE49-F238E27FC236}">
                <a16:creationId xmlns:a16="http://schemas.microsoft.com/office/drawing/2014/main" id="{5A2A6953-FB60-D0A2-77A1-3D0B26383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739" y="1570990"/>
            <a:ext cx="2268538" cy="1800493"/>
          </a:xfrm>
          <a:prstGeom prst="roundRect">
            <a:avLst/>
          </a:prstGeom>
          <a:noFill/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519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Graphique&#10;&#10;Description générée automatiquement">
            <a:extLst>
              <a:ext uri="{FF2B5EF4-FFF2-40B4-BE49-F238E27FC236}">
                <a16:creationId xmlns:a16="http://schemas.microsoft.com/office/drawing/2014/main" id="{22715FF7-FE38-C9A2-8D3F-7810993A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837" y="1606209"/>
            <a:ext cx="1079500" cy="2527300"/>
          </a:xfrm>
          <a:prstGeom prst="rect">
            <a:avLst/>
          </a:prstGeom>
        </p:spPr>
      </p:pic>
      <p:pic>
        <p:nvPicPr>
          <p:cNvPr id="5" name="Image 4" descr="Une image contenant Graphique, capture d’écran, graphisme, triangle&#10;&#10;Description générée automatiquement">
            <a:extLst>
              <a:ext uri="{FF2B5EF4-FFF2-40B4-BE49-F238E27FC236}">
                <a16:creationId xmlns:a16="http://schemas.microsoft.com/office/drawing/2014/main" id="{5578FC53-89B7-CE0F-860A-1116406C3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1882722"/>
            <a:ext cx="1079500" cy="2527300"/>
          </a:xfrm>
          <a:prstGeom prst="rect">
            <a:avLst/>
          </a:prstGeom>
        </p:spPr>
      </p:pic>
      <p:pic>
        <p:nvPicPr>
          <p:cNvPr id="6" name="Image 5" descr="Une image contenant Graphique, capture d’écran, graphisme, triangle&#10;&#10;Description générée automatiquement">
            <a:extLst>
              <a:ext uri="{FF2B5EF4-FFF2-40B4-BE49-F238E27FC236}">
                <a16:creationId xmlns:a16="http://schemas.microsoft.com/office/drawing/2014/main" id="{76D35891-7CD7-441D-4CFD-834CD795B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0" y="1606209"/>
            <a:ext cx="1079500" cy="2527300"/>
          </a:xfrm>
          <a:prstGeom prst="rect">
            <a:avLst/>
          </a:prstGeom>
        </p:spPr>
      </p:pic>
      <p:pic>
        <p:nvPicPr>
          <p:cNvPr id="7" name="Image 6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A0B2E011-4B01-41EE-29AD-FCAD8B830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1606209"/>
            <a:ext cx="1079500" cy="2527300"/>
          </a:xfrm>
          <a:prstGeom prst="rect">
            <a:avLst/>
          </a:prstGeom>
        </p:spPr>
      </p:pic>
      <p:pic>
        <p:nvPicPr>
          <p:cNvPr id="8" name="Image 7" descr="Une image contenant Graphique, triangle&#10;&#10;Description générée automatiquement">
            <a:extLst>
              <a:ext uri="{FF2B5EF4-FFF2-40B4-BE49-F238E27FC236}">
                <a16:creationId xmlns:a16="http://schemas.microsoft.com/office/drawing/2014/main" id="{C021A917-FA1F-E8AF-CFC8-AF0A7AD9D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193" y="2529778"/>
            <a:ext cx="1079500" cy="2527300"/>
          </a:xfrm>
          <a:prstGeom prst="rect">
            <a:avLst/>
          </a:prstGeom>
        </p:spPr>
      </p:pic>
      <p:pic>
        <p:nvPicPr>
          <p:cNvPr id="9" name="Image 8" descr="Une image contenant avion, transport, ciel, aviation&#10;&#10;Description générée automatiquement">
            <a:extLst>
              <a:ext uri="{FF2B5EF4-FFF2-40B4-BE49-F238E27FC236}">
                <a16:creationId xmlns:a16="http://schemas.microsoft.com/office/drawing/2014/main" id="{533B9AC5-4312-A40A-8F83-97F4101DF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7550" y="1512724"/>
            <a:ext cx="1079500" cy="25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37850"/>
      </p:ext>
    </p:extLst>
  </p:cSld>
  <p:clrMapOvr>
    <a:masterClrMapping/>
  </p:clrMapOvr>
</p:sld>
</file>

<file path=ppt/theme/theme1.xml><?xml version="1.0" encoding="utf-8"?>
<a:theme xmlns:a="http://schemas.openxmlformats.org/drawingml/2006/main" name="Thème1">
  <a:themeElements>
    <a:clrScheme name="BRS">
      <a:dk1>
        <a:srgbClr val="2D2E83"/>
      </a:dk1>
      <a:lt1>
        <a:sysClr val="window" lastClr="FFFFFF"/>
      </a:lt1>
      <a:dk2>
        <a:srgbClr val="36A9E1"/>
      </a:dk2>
      <a:lt2>
        <a:srgbClr val="E7E6E6"/>
      </a:lt2>
      <a:accent1>
        <a:srgbClr val="93BD21"/>
      </a:accent1>
      <a:accent2>
        <a:srgbClr val="36A9E1"/>
      </a:accent2>
      <a:accent3>
        <a:srgbClr val="2D2E83"/>
      </a:accent3>
      <a:accent4>
        <a:srgbClr val="A5A5A5"/>
      </a:accent4>
      <a:accent5>
        <a:srgbClr val="36A9E1"/>
      </a:accent5>
      <a:accent6>
        <a:srgbClr val="70AD47"/>
      </a:accent6>
      <a:hlink>
        <a:srgbClr val="2D2E83"/>
      </a:hlink>
      <a:folHlink>
        <a:srgbClr val="93BD2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̀me1" id="{F04BFEF2-7B12-1C46-9FE3-18473DC7FC5F}" vid="{813CE5C6-8216-EF49-8F61-6C8DF369ED0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C6391F2EEFD24F9418E0EECBBD9695" ma:contentTypeVersion="6" ma:contentTypeDescription="Crée un document." ma:contentTypeScope="" ma:versionID="4630dae57ade0d6c22df6e224b8f9674">
  <xsd:schema xmlns:xsd="http://www.w3.org/2001/XMLSchema" xmlns:xs="http://www.w3.org/2001/XMLSchema" xmlns:p="http://schemas.microsoft.com/office/2006/metadata/properties" xmlns:ns2="dcecc855-f3e8-419b-aaf5-cf1d7a33340a" xmlns:ns3="a97b8311-ee63-43b3-be09-c20b020a0ece" xmlns:ns4="c079328b-2a81-41b0-86df-8b1495c1a6f7" xmlns:ns5="c151d845-53e8-4aaf-986f-90618c4f0b17" targetNamespace="http://schemas.microsoft.com/office/2006/metadata/properties" ma:root="true" ma:fieldsID="037f57284abfc40c079a523f85389bee" ns2:_="" ns3:_="" ns4:_="" ns5:_="">
    <xsd:import namespace="dcecc855-f3e8-419b-aaf5-cf1d7a33340a"/>
    <xsd:import namespace="a97b8311-ee63-43b3-be09-c20b020a0ece"/>
    <xsd:import namespace="c079328b-2a81-41b0-86df-8b1495c1a6f7"/>
    <xsd:import namespace="c151d845-53e8-4aaf-986f-90618c4f0b1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ecc855-f3e8-419b-aaf5-cf1d7a33340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Balises d’images" ma:readOnly="false" ma:fieldId="{5cf76f15-5ced-4ddc-b409-7134ff3c332f}" ma:taxonomyMulti="true" ma:sspId="6d5e6cd0-3cd6-40c5-825d-5ac256358f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3" nillable="true" ma:displayName="État de validation" ma:internalName="_x00c9_tat_x0020_de_x0020_validation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b8311-ee63-43b3-be09-c20b020a0ec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539729f6-afae-4bfc-928f-9b3bd6af1994}" ma:internalName="TaxCatchAll" ma:showField="CatchAllData" ma:web="a97b8311-ee63-43b3-be09-c20b020a0e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9328b-2a81-41b0-86df-8b1495c1a6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51d845-53e8-4aaf-986f-90618c4f0b1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97b8311-ee63-43b3-be09-c20b020a0ece" xsi:nil="true"/>
    <lcf76f155ced4ddcb4097134ff3c332f xmlns="dcecc855-f3e8-419b-aaf5-cf1d7a33340a">
      <Terms xmlns="http://schemas.microsoft.com/office/infopath/2007/PartnerControls"/>
    </lcf76f155ced4ddcb4097134ff3c332f>
    <_Flow_SignoffStatus xmlns="dcecc855-f3e8-419b-aaf5-cf1d7a33340a" xsi:nil="true"/>
  </documentManagement>
</p:properties>
</file>

<file path=customXml/itemProps1.xml><?xml version="1.0" encoding="utf-8"?>
<ds:datastoreItem xmlns:ds="http://schemas.openxmlformats.org/officeDocument/2006/customXml" ds:itemID="{870AE86B-69B9-471C-8790-00BC621119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3E7F78-9732-49D9-9A27-6535C5691C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ecc855-f3e8-419b-aaf5-cf1d7a33340a"/>
    <ds:schemaRef ds:uri="a97b8311-ee63-43b3-be09-c20b020a0ece"/>
    <ds:schemaRef ds:uri="c079328b-2a81-41b0-86df-8b1495c1a6f7"/>
    <ds:schemaRef ds:uri="c151d845-53e8-4aaf-986f-90618c4f0b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3429BB-600A-49D2-B8C6-4DF988C5F530}">
  <ds:schemaRefs>
    <ds:schemaRef ds:uri="http://schemas.microsoft.com/office/2006/metadata/properties"/>
    <ds:schemaRef ds:uri="http://schemas.microsoft.com/office/infopath/2007/PartnerControls"/>
    <ds:schemaRef ds:uri="a97b8311-ee63-43b3-be09-c20b020a0ece"/>
    <ds:schemaRef ds:uri="dcecc855-f3e8-419b-aaf5-cf1d7a3334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Thème1</Template>
  <TotalTime>30</TotalTime>
  <Words>358</Words>
  <Application>Microsoft Macintosh PowerPoint</Application>
  <PresentationFormat>Grand écran</PresentationFormat>
  <Paragraphs>53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Montserrat</vt:lpstr>
      <vt:lpstr>Montserrat Bold</vt:lpstr>
      <vt:lpstr>Wingdings</vt:lpstr>
      <vt:lpstr>Thème1</vt:lpstr>
      <vt:lpstr>Présentation PowerPoint</vt:lpstr>
      <vt:lpstr>Qui-sommes-nous ? </vt:lpstr>
      <vt:lpstr>Nos solutions de recharge</vt:lpstr>
      <vt:lpstr>Enjeux futurs de l’électromobilité</vt:lpstr>
      <vt:lpstr>Solution : effacement</vt:lpstr>
      <vt:lpstr>Effacement : fonctionnement</vt:lpstr>
      <vt:lpstr>Objet du LastProject</vt:lpstr>
      <vt:lpstr>Objet du LastProject</vt:lpstr>
      <vt:lpstr>Contraintes du projet</vt:lpstr>
      <vt:lpstr>Nous contacter        Julien Herr DirecTEUR Technique Mail : jherr@bornerecharge.fr Tel : 06.67.53.03.96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Olive</dc:creator>
  <cp:lastModifiedBy>Julien HERR</cp:lastModifiedBy>
  <cp:revision>4</cp:revision>
  <dcterms:created xsi:type="dcterms:W3CDTF">2024-09-29T17:51:02Z</dcterms:created>
  <dcterms:modified xsi:type="dcterms:W3CDTF">2025-10-01T14:14:59Z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0x01010007C6391F2EEFD24F9418E0EECBBD9695</vt:lpwstr>
  </property>
</Properties>
</file>