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61" r:id="rId2"/>
    <p:sldId id="265" r:id="rId3"/>
    <p:sldId id="274" r:id="rId4"/>
    <p:sldId id="266" r:id="rId5"/>
    <p:sldId id="267" r:id="rId6"/>
    <p:sldId id="268" r:id="rId7"/>
    <p:sldId id="269" r:id="rId8"/>
    <p:sldId id="275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80A5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3" autoAdjust="0"/>
    <p:restoredTop sz="94660"/>
  </p:normalViewPr>
  <p:slideViewPr>
    <p:cSldViewPr snapToGrid="0">
      <p:cViewPr varScale="1">
        <p:scale>
          <a:sx n="85" d="100"/>
          <a:sy n="85" d="100"/>
        </p:scale>
        <p:origin x="336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2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ED4CCFC-9194-481B-B048-F9AF851C5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2271CEA-F2A7-4B15-A7CC-0C8AFC5F59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5A8C8-005D-492D-8B79-008F48BB471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D790AAA-DCCC-4B14-8ACD-1B396C9861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0D718F-76F7-44DD-BE7D-EEA554BC1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E93B5-8C74-4AAD-84D3-1A6964811F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9872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28F05-4ED4-4022-A426-C7B97DD684F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C1A4D-17B1-4F08-9306-9DBC8005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7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nd bleu"/>
          <p:cNvSpPr/>
          <p:nvPr userDrawn="1"/>
        </p:nvSpPr>
        <p:spPr>
          <a:xfrm>
            <a:off x="0" y="2999940"/>
            <a:ext cx="12192000" cy="3858067"/>
          </a:xfrm>
          <a:custGeom>
            <a:avLst/>
            <a:gdLst/>
            <a:ahLst/>
            <a:cxnLst/>
            <a:rect l="l" t="t" r="r" b="b"/>
            <a:pathLst>
              <a:path w="9144000" h="3786504">
                <a:moveTo>
                  <a:pt x="0" y="0"/>
                </a:moveTo>
                <a:lnTo>
                  <a:pt x="9144000" y="0"/>
                </a:lnTo>
                <a:lnTo>
                  <a:pt x="9144000" y="3786187"/>
                </a:lnTo>
                <a:lnTo>
                  <a:pt x="0" y="3786187"/>
                </a:lnTo>
                <a:lnTo>
                  <a:pt x="0" y="0"/>
                </a:lnTo>
                <a:close/>
              </a:path>
            </a:pathLst>
          </a:custGeom>
          <a:solidFill>
            <a:srgbClr val="132C85"/>
          </a:solidFill>
        </p:spPr>
        <p:txBody>
          <a:bodyPr wrap="square" lIns="0" tIns="0" rIns="0" bIns="0" rtlCol="0"/>
          <a:lstStyle/>
          <a:p>
            <a:endParaRPr sz="1351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BB19ED-218C-4324-A763-7F172D31EF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59776" y="0"/>
            <a:ext cx="7010400" cy="395630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121" y="6230252"/>
            <a:ext cx="1054699" cy="62794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65" y="1883586"/>
            <a:ext cx="2163161" cy="427516"/>
          </a:xfrm>
          <a:prstGeom prst="rect">
            <a:avLst/>
          </a:prstGeom>
        </p:spPr>
      </p:pic>
      <p:pic>
        <p:nvPicPr>
          <p:cNvPr id="12" name="Image 11"/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005" y="6396638"/>
            <a:ext cx="1573055" cy="325299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984" y="6347077"/>
            <a:ext cx="1385923" cy="374858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22" b="34092"/>
          <a:stretch/>
        </p:blipFill>
        <p:spPr>
          <a:xfrm rot="16200000">
            <a:off x="10778297" y="2547483"/>
            <a:ext cx="1043058" cy="1796461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13"/>
          <a:stretch/>
        </p:blipFill>
        <p:spPr>
          <a:xfrm rot="5400000">
            <a:off x="10780804" y="4193734"/>
            <a:ext cx="1054623" cy="181304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87" y="451286"/>
            <a:ext cx="2429719" cy="974456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62"/>
          <a:stretch/>
        </p:blipFill>
        <p:spPr>
          <a:xfrm>
            <a:off x="5353051" y="0"/>
            <a:ext cx="851431" cy="119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0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1248"/>
            <a:ext cx="867547" cy="347935"/>
          </a:xfrm>
          <a:prstGeom prst="rect">
            <a:avLst/>
          </a:prstGeom>
        </p:spPr>
      </p:pic>
      <p:cxnSp>
        <p:nvCxnSpPr>
          <p:cNvPr id="10" name="Connecteur droit 9"/>
          <p:cNvCxnSpPr/>
          <p:nvPr userDrawn="1"/>
        </p:nvCxnSpPr>
        <p:spPr>
          <a:xfrm>
            <a:off x="3939612" y="1093862"/>
            <a:ext cx="8357787" cy="0"/>
          </a:xfrm>
          <a:prstGeom prst="line">
            <a:avLst/>
          </a:prstGeom>
          <a:ln w="12700">
            <a:solidFill>
              <a:srgbClr val="0E2166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" y="95699"/>
            <a:ext cx="841321" cy="548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04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ADCDD5-A3A1-499C-86BE-0F859326D639}"/>
              </a:ext>
            </a:extLst>
          </p:cNvPr>
          <p:cNvSpPr txBox="1"/>
          <p:nvPr userDrawn="1"/>
        </p:nvSpPr>
        <p:spPr>
          <a:xfrm>
            <a:off x="7446897" y="6308207"/>
            <a:ext cx="3906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E4 – Filière &lt;nom de votre filière&gt; - </a:t>
            </a:r>
            <a:fld id="{E1BCAF07-BFB2-461F-9C13-93FCE9B88D5C}" type="slidenum">
              <a:rPr lang="fr-FR" smtClean="0">
                <a:solidFill>
                  <a:srgbClr val="002060"/>
                </a:solidFill>
              </a:rPr>
              <a:t>‹#›</a:t>
            </a:fld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48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614B00D-E48B-4D04-999E-B5D76D91FA23}"/>
              </a:ext>
            </a:extLst>
          </p:cNvPr>
          <p:cNvSpPr txBox="1"/>
          <p:nvPr/>
        </p:nvSpPr>
        <p:spPr>
          <a:xfrm>
            <a:off x="2855342" y="4054415"/>
            <a:ext cx="7504983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chemeClr val="bg1"/>
                </a:solidFill>
              </a:rPr>
              <a:t>Exercice Scientifique et technique </a:t>
            </a:r>
          </a:p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chemeClr val="bg1"/>
                </a:solidFill>
              </a:rPr>
              <a:t>Développement d’une API fiable et sécurisée</a:t>
            </a:r>
          </a:p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chemeClr val="bg1"/>
                </a:solidFill>
              </a:rPr>
              <a:t>Hamrouni Yassine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D7A0B8-2A6C-42F0-924A-A7A3B5B95A39}"/>
              </a:ext>
            </a:extLst>
          </p:cNvPr>
          <p:cNvSpPr/>
          <p:nvPr/>
        </p:nvSpPr>
        <p:spPr>
          <a:xfrm>
            <a:off x="319177" y="3558396"/>
            <a:ext cx="2196000" cy="22989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Mettre ici le logo de votre entreprise</a:t>
            </a: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52448338-DFD6-3243-4C5A-7A0448E9B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7" y="3558396"/>
            <a:ext cx="2196000" cy="242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5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56D09A-2244-E10F-4E9B-EB75AD6B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12" y="6015953"/>
            <a:ext cx="4039164" cy="6763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D44E8E-EC45-93B2-3C28-06AF317BD5C4}"/>
              </a:ext>
            </a:extLst>
          </p:cNvPr>
          <p:cNvSpPr txBox="1"/>
          <p:nvPr/>
        </p:nvSpPr>
        <p:spPr>
          <a:xfrm>
            <a:off x="8252399" y="6292212"/>
            <a:ext cx="315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2060"/>
                </a:solidFill>
              </a:rPr>
              <a:t>E4 - Filière Informatique -2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21FCF-3A35-761D-F15E-9400CEDD8DD2}"/>
              </a:ext>
            </a:extLst>
          </p:cNvPr>
          <p:cNvSpPr txBox="1"/>
          <p:nvPr/>
        </p:nvSpPr>
        <p:spPr>
          <a:xfrm>
            <a:off x="3948010" y="165678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rgbClr val="6E80A5"/>
                </a:solidFill>
              </a:rPr>
              <a:t>Les attentes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B8E90-52CB-4B40-B960-0EB7CE376AF2}"/>
              </a:ext>
            </a:extLst>
          </p:cNvPr>
          <p:cNvSpPr txBox="1"/>
          <p:nvPr/>
        </p:nvSpPr>
        <p:spPr>
          <a:xfrm>
            <a:off x="1098506" y="5024718"/>
            <a:ext cx="315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Amélioration du processus R&amp;D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1F496D-F9F0-488D-B48A-141A11D6E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774" y="2614879"/>
            <a:ext cx="2210437" cy="22104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5CCCC5-DD6B-44A5-9A56-A5526027DCEB}"/>
              </a:ext>
            </a:extLst>
          </p:cNvPr>
          <p:cNvSpPr txBox="1"/>
          <p:nvPr/>
        </p:nvSpPr>
        <p:spPr>
          <a:xfrm>
            <a:off x="4519332" y="5024718"/>
            <a:ext cx="315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Solution plus robuste que excel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4BF1BF-E7E4-4FCF-A2DE-0616C69A21E3}"/>
              </a:ext>
            </a:extLst>
          </p:cNvPr>
          <p:cNvSpPr txBox="1"/>
          <p:nvPr/>
        </p:nvSpPr>
        <p:spPr>
          <a:xfrm>
            <a:off x="8149526" y="5024718"/>
            <a:ext cx="3153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Rechercher une machine via un QR code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175EFA-5847-4873-83B4-66E7D3E9B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448" y="2503329"/>
            <a:ext cx="3217414" cy="22104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A79975-A377-4827-A4A1-0823B1A42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397" y="2543670"/>
            <a:ext cx="2275915" cy="227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1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56D09A-2244-E10F-4E9B-EB75AD6B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12" y="6015953"/>
            <a:ext cx="4039164" cy="6763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D44E8E-EC45-93B2-3C28-06AF317BD5C4}"/>
              </a:ext>
            </a:extLst>
          </p:cNvPr>
          <p:cNvSpPr txBox="1"/>
          <p:nvPr/>
        </p:nvSpPr>
        <p:spPr>
          <a:xfrm>
            <a:off x="8270328" y="6292212"/>
            <a:ext cx="315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2060"/>
                </a:solidFill>
              </a:rPr>
              <a:t>E4 - Filière Informatique -2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21FCF-3A35-761D-F15E-9400CEDD8DD2}"/>
              </a:ext>
            </a:extLst>
          </p:cNvPr>
          <p:cNvSpPr txBox="1"/>
          <p:nvPr/>
        </p:nvSpPr>
        <p:spPr>
          <a:xfrm>
            <a:off x="3948010" y="165678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rgbClr val="6E80A5"/>
                </a:solidFill>
              </a:rPr>
              <a:t>Qu’est ce qu’une API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01362E-F5D7-4C08-B8F2-1C0FBCEBA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015" y="1452235"/>
            <a:ext cx="95250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11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C047-A1D9-9658-965E-3AF62475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E21852-6871-4248-8F31-2B18CCEDC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12" y="6015953"/>
            <a:ext cx="4039164" cy="6763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A5EE1A-8E4D-D6CB-B7F2-DBC5F3AE37CD}"/>
              </a:ext>
            </a:extLst>
          </p:cNvPr>
          <p:cNvSpPr txBox="1"/>
          <p:nvPr/>
        </p:nvSpPr>
        <p:spPr>
          <a:xfrm>
            <a:off x="8243434" y="6344161"/>
            <a:ext cx="315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2060"/>
                </a:solidFill>
              </a:rPr>
              <a:t>E4 - Filière Informatique -2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C3AC0-FBF7-23F4-409C-399F4DB6128A}"/>
              </a:ext>
            </a:extLst>
          </p:cNvPr>
          <p:cNvSpPr txBox="1"/>
          <p:nvPr/>
        </p:nvSpPr>
        <p:spPr>
          <a:xfrm>
            <a:off x="3948010" y="165678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dirty="0">
                <a:solidFill>
                  <a:srgbClr val="6E80A5"/>
                </a:solidFill>
              </a:rPr>
              <a:t>Les requêtes API</a:t>
            </a:r>
            <a:endParaRPr lang="en-US" sz="5400" dirty="0">
              <a:solidFill>
                <a:srgbClr val="6E80A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9D8F52-303E-4CBA-AD10-51B599C4A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762" y="1282688"/>
            <a:ext cx="9752381" cy="5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5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48528C-E21E-17D7-17B5-4B5CE2959294}"/>
              </a:ext>
            </a:extLst>
          </p:cNvPr>
          <p:cNvSpPr txBox="1"/>
          <p:nvPr/>
        </p:nvSpPr>
        <p:spPr>
          <a:xfrm>
            <a:off x="3836914" y="174223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dirty="0">
                <a:solidFill>
                  <a:srgbClr val="6E80A5"/>
                </a:solidFill>
              </a:rPr>
              <a:t>Fiabilité des données </a:t>
            </a:r>
            <a:endParaRPr lang="en-US" sz="5400" dirty="0">
              <a:solidFill>
                <a:srgbClr val="6E80A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FF47E-2DDE-4BD8-BBDA-98C6BEAAF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729" y="2357436"/>
            <a:ext cx="2143125" cy="2143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D34F7C-A178-4E91-B9B2-1B20ADE5D82A}"/>
              </a:ext>
            </a:extLst>
          </p:cNvPr>
          <p:cNvSpPr txBox="1"/>
          <p:nvPr/>
        </p:nvSpPr>
        <p:spPr>
          <a:xfrm>
            <a:off x="2260246" y="4805084"/>
            <a:ext cx="3153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Manipulation de chaines de caractères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2C8B0-D9EC-4F35-8E00-C2D47E092E6C}"/>
              </a:ext>
            </a:extLst>
          </p:cNvPr>
          <p:cNvSpPr txBox="1"/>
          <p:nvPr/>
        </p:nvSpPr>
        <p:spPr>
          <a:xfrm>
            <a:off x="6921040" y="4805084"/>
            <a:ext cx="315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Protocole de vérification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8BDE43-44D4-4930-BB14-F91E9CBDB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146" y="2357437"/>
            <a:ext cx="2143125" cy="2143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DB6DC2-A636-457B-A67D-411767F19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146" y="6317901"/>
            <a:ext cx="3715268" cy="428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EA4A6C-B001-4D2A-AD1E-E5DFB28CEEB7}"/>
              </a:ext>
            </a:extLst>
          </p:cNvPr>
          <p:cNvSpPr txBox="1"/>
          <p:nvPr/>
        </p:nvSpPr>
        <p:spPr>
          <a:xfrm>
            <a:off x="8198611" y="6315684"/>
            <a:ext cx="315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2060"/>
                </a:solidFill>
              </a:rPr>
              <a:t>E4 - Filière Informatique -2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04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362123-24C2-C0BE-9B20-CC850A639E16}"/>
              </a:ext>
            </a:extLst>
          </p:cNvPr>
          <p:cNvSpPr txBox="1"/>
          <p:nvPr/>
        </p:nvSpPr>
        <p:spPr>
          <a:xfrm>
            <a:off x="3836914" y="174223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i="0" dirty="0">
                <a:solidFill>
                  <a:srgbClr val="6E80A5"/>
                </a:solidFill>
                <a:effectLst/>
              </a:rPr>
              <a:t>S</a:t>
            </a:r>
            <a:r>
              <a:rPr lang="fr-FR" sz="5400" dirty="0">
                <a:solidFill>
                  <a:srgbClr val="6E80A5"/>
                </a:solidFill>
              </a:rPr>
              <a:t>é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curit</a:t>
            </a:r>
            <a:r>
              <a:rPr lang="fr-FR" sz="5400" dirty="0">
                <a:solidFill>
                  <a:srgbClr val="6E80A5"/>
                </a:solidFill>
              </a:rPr>
              <a:t>é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 des </a:t>
            </a:r>
            <a:r>
              <a:rPr lang="en-US" sz="5400" dirty="0">
                <a:solidFill>
                  <a:srgbClr val="6E80A5"/>
                </a:solidFill>
              </a:rPr>
              <a:t>d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onn</a:t>
            </a:r>
            <a:r>
              <a:rPr lang="fr-FR" sz="5400" dirty="0">
                <a:solidFill>
                  <a:srgbClr val="6E80A5"/>
                </a:solidFill>
              </a:rPr>
              <a:t>é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98DC7-9A71-4C38-AF71-4F8BF616F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24" y="6216987"/>
            <a:ext cx="3673286" cy="4667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EA3A75-4604-458E-B486-1E5EE8E41D3D}"/>
              </a:ext>
            </a:extLst>
          </p:cNvPr>
          <p:cNvSpPr txBox="1"/>
          <p:nvPr/>
        </p:nvSpPr>
        <p:spPr>
          <a:xfrm>
            <a:off x="7861982" y="6283667"/>
            <a:ext cx="315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2060"/>
                </a:solidFill>
              </a:rPr>
              <a:t>E4 - Filière Informatique -2</a:t>
            </a: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749F0AB-3920-4E05-8A0C-01494C716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0200" y="1313316"/>
            <a:ext cx="8531600" cy="48546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E122D0-0ECD-4B94-9ED1-F04E2DC59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306" y="6283667"/>
            <a:ext cx="371475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2F5423-36A1-4098-9171-476EAD2076A2}"/>
              </a:ext>
            </a:extLst>
          </p:cNvPr>
          <p:cNvSpPr txBox="1"/>
          <p:nvPr/>
        </p:nvSpPr>
        <p:spPr>
          <a:xfrm>
            <a:off x="7902227" y="6283667"/>
            <a:ext cx="315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2060"/>
                </a:solidFill>
              </a:rPr>
              <a:t>E4 - Filière Informatique -2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0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33333F-B7A6-064A-7DE0-83BF06D0DD42}"/>
              </a:ext>
            </a:extLst>
          </p:cNvPr>
          <p:cNvSpPr txBox="1"/>
          <p:nvPr/>
        </p:nvSpPr>
        <p:spPr>
          <a:xfrm>
            <a:off x="3905280" y="165677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i="0" dirty="0">
                <a:solidFill>
                  <a:srgbClr val="6E80A5"/>
                </a:solidFill>
                <a:effectLst/>
              </a:rPr>
              <a:t>Tracabilité des </a:t>
            </a:r>
            <a:r>
              <a:rPr lang="en-US" sz="5400" dirty="0">
                <a:solidFill>
                  <a:srgbClr val="6E80A5"/>
                </a:solidFill>
              </a:rPr>
              <a:t>d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onnées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796D2-597E-49B2-B466-30E064CEE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122" y="1663444"/>
            <a:ext cx="3943490" cy="3943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7BA596-5A39-42BF-90BD-5FE090354CB6}"/>
              </a:ext>
            </a:extLst>
          </p:cNvPr>
          <p:cNvSpPr txBox="1"/>
          <p:nvPr/>
        </p:nvSpPr>
        <p:spPr>
          <a:xfrm>
            <a:off x="5755339" y="1999131"/>
            <a:ext cx="436581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Avoir un historique</a:t>
            </a:r>
          </a:p>
          <a:p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Table pour stocker les actions utilisateurs</a:t>
            </a:r>
          </a:p>
          <a:p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Toutes les requêtes api ont une traçabilité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8166A-20DE-4701-8478-E9C540829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996" y="6263698"/>
            <a:ext cx="3714750" cy="428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B9596-BD08-438C-8774-F9E7A70BA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831" y="6206547"/>
            <a:ext cx="32194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5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71E757-F7BB-46C1-8987-6D321823E939}"/>
              </a:ext>
            </a:extLst>
          </p:cNvPr>
          <p:cNvSpPr txBox="1"/>
          <p:nvPr/>
        </p:nvSpPr>
        <p:spPr>
          <a:xfrm>
            <a:off x="3905280" y="165677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i="0" dirty="0">
                <a:solidFill>
                  <a:srgbClr val="6E80A5"/>
                </a:solidFill>
                <a:effectLst/>
              </a:rPr>
              <a:t>Lien académique</a:t>
            </a:r>
            <a:endParaRPr lang="en-US" sz="5400" i="0" dirty="0">
              <a:solidFill>
                <a:srgbClr val="6E80A5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C125B-E637-45D9-ACFD-99627204D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41" y="1736909"/>
            <a:ext cx="3384181" cy="33841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64D340-FF7E-4931-B70E-4CC55B21DE33}"/>
              </a:ext>
            </a:extLst>
          </p:cNvPr>
          <p:cNvSpPr txBox="1"/>
          <p:nvPr/>
        </p:nvSpPr>
        <p:spPr>
          <a:xfrm>
            <a:off x="5706624" y="2767279"/>
            <a:ext cx="3575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dirty="0"/>
              <a:t>Développement web</a:t>
            </a:r>
          </a:p>
        </p:txBody>
      </p:sp>
    </p:spTree>
    <p:extLst>
      <p:ext uri="{BB962C8B-B14F-4D97-AF65-F5344CB8AC3E}">
        <p14:creationId xmlns:p14="http://schemas.microsoft.com/office/powerpoint/2010/main" val="418749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B64CD-753B-4BF5-B4C1-B055AA0A54FB}"/>
              </a:ext>
            </a:extLst>
          </p:cNvPr>
          <p:cNvSpPr txBox="1"/>
          <p:nvPr/>
        </p:nvSpPr>
        <p:spPr>
          <a:xfrm>
            <a:off x="3953456" y="75611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dirty="0">
                <a:solidFill>
                  <a:srgbClr val="6E80A5"/>
                </a:solidFill>
              </a:rPr>
              <a:t>Conclusion</a:t>
            </a:r>
            <a:endParaRPr lang="en-US" sz="5400" dirty="0">
              <a:solidFill>
                <a:srgbClr val="6E80A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A8325-E6A8-441C-83D4-6224D792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172" y="6280617"/>
            <a:ext cx="3714750" cy="428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A0B9AE-FA2C-47BD-B65A-C29F578D3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39" y="6166317"/>
            <a:ext cx="3219450" cy="542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A5C624-EB3E-4190-9805-EEC5E5047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731" y="6280616"/>
            <a:ext cx="3714750" cy="428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5B8B9C-835D-483C-AC33-DC847E691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417" y="6223465"/>
            <a:ext cx="3219450" cy="5429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B20C7CD-F17D-421A-AF41-E42ED8DE0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214" y="1550771"/>
            <a:ext cx="4424203" cy="442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220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7743</TotalTime>
  <Words>126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ESIEE-Paris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PENSEE Vincent</dc:creator>
  <cp:lastModifiedBy>HAMROUNI Yassin</cp:lastModifiedBy>
  <cp:revision>55</cp:revision>
  <dcterms:created xsi:type="dcterms:W3CDTF">2020-02-28T12:10:52Z</dcterms:created>
  <dcterms:modified xsi:type="dcterms:W3CDTF">2025-03-17T12:38:18Z</dcterms:modified>
</cp:coreProperties>
</file>