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61" r:id="rId2"/>
    <p:sldId id="276" r:id="rId3"/>
    <p:sldId id="265" r:id="rId4"/>
    <p:sldId id="274" r:id="rId5"/>
    <p:sldId id="266" r:id="rId6"/>
    <p:sldId id="267" r:id="rId7"/>
    <p:sldId id="268" r:id="rId8"/>
    <p:sldId id="269" r:id="rId9"/>
    <p:sldId id="275" r:id="rId10"/>
    <p:sldId id="27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80A5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652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7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56" d="100"/>
          <a:sy n="56" d="100"/>
        </p:scale>
        <p:origin x="2520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ED4CCFC-9194-481B-B048-F9AF851C57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2271CEA-F2A7-4B15-A7CC-0C8AFC5F59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55A8C8-005D-492D-8B79-008F48BB471C}" type="datetimeFigureOut">
              <a:rPr lang="fr-FR" smtClean="0"/>
              <a:t>26/03/2025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D790AAA-DCCC-4B14-8ACD-1B396C9861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30D718F-76F7-44DD-BE7D-EEA554BC171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9E93B5-8C74-4AAD-84D3-1A6964811F7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98723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C28F05-4ED4-4022-A426-C7B97DD684FF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BC1A4D-17B1-4F08-9306-9DBC800553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773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nd bleu"/>
          <p:cNvSpPr/>
          <p:nvPr userDrawn="1"/>
        </p:nvSpPr>
        <p:spPr>
          <a:xfrm>
            <a:off x="0" y="2999940"/>
            <a:ext cx="12192000" cy="3858067"/>
          </a:xfrm>
          <a:custGeom>
            <a:avLst/>
            <a:gdLst/>
            <a:ahLst/>
            <a:cxnLst/>
            <a:rect l="l" t="t" r="r" b="b"/>
            <a:pathLst>
              <a:path w="9144000" h="3786504">
                <a:moveTo>
                  <a:pt x="0" y="0"/>
                </a:moveTo>
                <a:lnTo>
                  <a:pt x="9144000" y="0"/>
                </a:lnTo>
                <a:lnTo>
                  <a:pt x="9144000" y="3786187"/>
                </a:lnTo>
                <a:lnTo>
                  <a:pt x="0" y="3786187"/>
                </a:lnTo>
                <a:lnTo>
                  <a:pt x="0" y="0"/>
                </a:lnTo>
                <a:close/>
              </a:path>
            </a:pathLst>
          </a:custGeom>
          <a:solidFill>
            <a:srgbClr val="132C85"/>
          </a:solidFill>
        </p:spPr>
        <p:txBody>
          <a:bodyPr wrap="square" lIns="0" tIns="0" rIns="0" bIns="0" rtlCol="0"/>
          <a:lstStyle/>
          <a:p>
            <a:endParaRPr sz="1351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DBB19ED-218C-4324-A763-7F172D31EF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59776" y="0"/>
            <a:ext cx="7010400" cy="3956304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121" y="6230252"/>
            <a:ext cx="1054699" cy="627942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865" y="1883586"/>
            <a:ext cx="2163161" cy="427516"/>
          </a:xfrm>
          <a:prstGeom prst="rect">
            <a:avLst/>
          </a:prstGeom>
        </p:spPr>
      </p:pic>
      <p:pic>
        <p:nvPicPr>
          <p:cNvPr id="12" name="Image 11"/>
          <p:cNvPicPr>
            <a:picLocks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7005" y="6396638"/>
            <a:ext cx="1573055" cy="325299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984" y="6347077"/>
            <a:ext cx="1385923" cy="374858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022" b="34092"/>
          <a:stretch/>
        </p:blipFill>
        <p:spPr>
          <a:xfrm rot="16200000">
            <a:off x="10778297" y="2547483"/>
            <a:ext cx="1043058" cy="1796461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13"/>
          <a:stretch/>
        </p:blipFill>
        <p:spPr>
          <a:xfrm rot="5400000">
            <a:off x="10780804" y="4193734"/>
            <a:ext cx="1054623" cy="1813042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587" y="451286"/>
            <a:ext cx="2429719" cy="974456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 userDrawn="1"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62"/>
          <a:stretch/>
        </p:blipFill>
        <p:spPr>
          <a:xfrm>
            <a:off x="5353051" y="0"/>
            <a:ext cx="851431" cy="1194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100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31248"/>
            <a:ext cx="867547" cy="347935"/>
          </a:xfrm>
          <a:prstGeom prst="rect">
            <a:avLst/>
          </a:prstGeom>
        </p:spPr>
      </p:pic>
      <p:cxnSp>
        <p:nvCxnSpPr>
          <p:cNvPr id="10" name="Connecteur droit 9"/>
          <p:cNvCxnSpPr/>
          <p:nvPr userDrawn="1"/>
        </p:nvCxnSpPr>
        <p:spPr>
          <a:xfrm>
            <a:off x="3939612" y="1093862"/>
            <a:ext cx="8357787" cy="0"/>
          </a:xfrm>
          <a:prstGeom prst="line">
            <a:avLst/>
          </a:prstGeom>
          <a:ln w="12700">
            <a:solidFill>
              <a:srgbClr val="0E2166"/>
            </a:solidFill>
            <a:head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" y="95699"/>
            <a:ext cx="841321" cy="5482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046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8ADCDD5-A3A1-499C-86BE-0F859326D639}"/>
              </a:ext>
            </a:extLst>
          </p:cNvPr>
          <p:cNvSpPr txBox="1"/>
          <p:nvPr userDrawn="1"/>
        </p:nvSpPr>
        <p:spPr>
          <a:xfrm>
            <a:off x="7446897" y="6308207"/>
            <a:ext cx="3906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2060"/>
                </a:solidFill>
              </a:rPr>
              <a:t>E4 – Filière &lt;nom de votre filière&gt; - </a:t>
            </a:r>
            <a:fld id="{E1BCAF07-BFB2-461F-9C13-93FCE9B88D5C}" type="slidenum">
              <a:rPr lang="fr-FR" smtClean="0">
                <a:solidFill>
                  <a:srgbClr val="002060"/>
                </a:solidFill>
              </a:rPr>
              <a:t>‹#›</a:t>
            </a:fld>
            <a:endParaRPr lang="fr-FR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7483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614B00D-E48B-4D04-999E-B5D76D91FA23}"/>
              </a:ext>
            </a:extLst>
          </p:cNvPr>
          <p:cNvSpPr txBox="1"/>
          <p:nvPr/>
        </p:nvSpPr>
        <p:spPr>
          <a:xfrm>
            <a:off x="2855342" y="4054415"/>
            <a:ext cx="7504983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800" b="1" dirty="0">
                <a:solidFill>
                  <a:schemeClr val="bg1"/>
                </a:solidFill>
              </a:rPr>
              <a:t>Exercice Scientifique et technique </a:t>
            </a:r>
          </a:p>
          <a:p>
            <a:pPr>
              <a:lnSpc>
                <a:spcPct val="150000"/>
              </a:lnSpc>
            </a:pPr>
            <a:r>
              <a:rPr lang="fr-FR" sz="2800" b="1" dirty="0">
                <a:solidFill>
                  <a:schemeClr val="bg1"/>
                </a:solidFill>
              </a:rPr>
              <a:t>Développement d’une API fiable et sécurisée</a:t>
            </a:r>
          </a:p>
          <a:p>
            <a:pPr>
              <a:lnSpc>
                <a:spcPct val="150000"/>
              </a:lnSpc>
            </a:pPr>
            <a:r>
              <a:rPr lang="fr-FR" sz="2800" b="1" dirty="0">
                <a:solidFill>
                  <a:schemeClr val="bg1"/>
                </a:solidFill>
              </a:rPr>
              <a:t>Hamrouni Yassine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D7A0B8-2A6C-42F0-924A-A7A3B5B95A39}"/>
              </a:ext>
            </a:extLst>
          </p:cNvPr>
          <p:cNvSpPr/>
          <p:nvPr/>
        </p:nvSpPr>
        <p:spPr>
          <a:xfrm>
            <a:off x="319177" y="3558396"/>
            <a:ext cx="2196000" cy="22989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Mettre ici le logo de votre entreprise</a:t>
            </a:r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52448338-DFD6-3243-4C5A-7A0448E9B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77" y="3558396"/>
            <a:ext cx="2196000" cy="242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354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CAC50F-0ABA-8083-F4A3-A7AE6672A939}"/>
              </a:ext>
            </a:extLst>
          </p:cNvPr>
          <p:cNvSpPr txBox="1"/>
          <p:nvPr/>
        </p:nvSpPr>
        <p:spPr>
          <a:xfrm>
            <a:off x="3948010" y="165678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solidFill>
                  <a:srgbClr val="6E80A5"/>
                </a:solidFill>
              </a:rPr>
              <a:t>Sommaire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BD9248-0157-B7E5-3238-0FC90C541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243" y="5930216"/>
            <a:ext cx="4124901" cy="7621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0A80DC-CE13-1D87-6CAB-1D856CE06041}"/>
              </a:ext>
            </a:extLst>
          </p:cNvPr>
          <p:cNvSpPr txBox="1"/>
          <p:nvPr/>
        </p:nvSpPr>
        <p:spPr>
          <a:xfrm>
            <a:off x="1663730" y="1503246"/>
            <a:ext cx="3392663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Les attentes</a:t>
            </a:r>
          </a:p>
          <a:p>
            <a:r>
              <a:rPr lang="en-US" sz="2000" dirty="0"/>
              <a:t> </a:t>
            </a:r>
            <a:endParaRPr lang="fr-F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Qu’est ce qu’une API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Requêtes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Fiabilité des données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Sécurité des 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Tracabilité des 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Lien académique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887062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56D09A-2244-E10F-4E9B-EB75AD6B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12" y="6015953"/>
            <a:ext cx="4039164" cy="6763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D44E8E-EC45-93B2-3C28-06AF317BD5C4}"/>
              </a:ext>
            </a:extLst>
          </p:cNvPr>
          <p:cNvSpPr txBox="1"/>
          <p:nvPr/>
        </p:nvSpPr>
        <p:spPr>
          <a:xfrm>
            <a:off x="9226619" y="6457890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-1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21FCF-3A35-761D-F15E-9400CEDD8DD2}"/>
              </a:ext>
            </a:extLst>
          </p:cNvPr>
          <p:cNvSpPr txBox="1"/>
          <p:nvPr/>
        </p:nvSpPr>
        <p:spPr>
          <a:xfrm>
            <a:off x="3948010" y="165678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solidFill>
                  <a:srgbClr val="6E80A5"/>
                </a:solidFill>
              </a:rPr>
              <a:t>Les attentes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6B8E90-52CB-4B40-B960-0EB7CE376AF2}"/>
              </a:ext>
            </a:extLst>
          </p:cNvPr>
          <p:cNvSpPr txBox="1"/>
          <p:nvPr/>
        </p:nvSpPr>
        <p:spPr>
          <a:xfrm>
            <a:off x="1098506" y="5024718"/>
            <a:ext cx="3153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Amélioration du processus R&amp;D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1F496D-F9F0-488D-B48A-141A11D6E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774" y="2614879"/>
            <a:ext cx="2210437" cy="22104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C5CCCC5-DD6B-44A5-9A56-A5526027DCEB}"/>
              </a:ext>
            </a:extLst>
          </p:cNvPr>
          <p:cNvSpPr txBox="1"/>
          <p:nvPr/>
        </p:nvSpPr>
        <p:spPr>
          <a:xfrm>
            <a:off x="4624016" y="5024718"/>
            <a:ext cx="3153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Solution plus robuste que Excel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4BF1BF-E7E4-4FCF-A2DE-0616C69A21E3}"/>
              </a:ext>
            </a:extLst>
          </p:cNvPr>
          <p:cNvSpPr txBox="1"/>
          <p:nvPr/>
        </p:nvSpPr>
        <p:spPr>
          <a:xfrm>
            <a:off x="8149526" y="5024718"/>
            <a:ext cx="31533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Rechercher une machine via un QR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175EFA-5847-4873-83B4-66E7D3E9B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5448" y="2503329"/>
            <a:ext cx="3217414" cy="22104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1A79975-A377-4827-A4A1-0823B1A429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8042" y="2549401"/>
            <a:ext cx="2275915" cy="2275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210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56D09A-2244-E10F-4E9B-EB75AD6B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12" y="6015953"/>
            <a:ext cx="4039164" cy="6763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D44E8E-EC45-93B2-3C28-06AF317BD5C4}"/>
              </a:ext>
            </a:extLst>
          </p:cNvPr>
          <p:cNvSpPr txBox="1"/>
          <p:nvPr/>
        </p:nvSpPr>
        <p:spPr>
          <a:xfrm>
            <a:off x="9176182" y="6457890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-2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21FCF-3A35-761D-F15E-9400CEDD8DD2}"/>
              </a:ext>
            </a:extLst>
          </p:cNvPr>
          <p:cNvSpPr txBox="1"/>
          <p:nvPr/>
        </p:nvSpPr>
        <p:spPr>
          <a:xfrm>
            <a:off x="3948010" y="165678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solidFill>
                  <a:srgbClr val="6E80A5"/>
                </a:solidFill>
              </a:rPr>
              <a:t>Qu’est ce qu’une API 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1362E-F5D7-4C08-B8F2-1C0FBCEBA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015" y="1452235"/>
            <a:ext cx="952500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811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1C047-A1D9-9658-965E-3AF62475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4E21852-6871-4248-8F31-2B18CCEDC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12" y="6015953"/>
            <a:ext cx="4039164" cy="6763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A5EE1A-8E4D-D6CB-B7F2-DBC5F3AE37CD}"/>
              </a:ext>
            </a:extLst>
          </p:cNvPr>
          <p:cNvSpPr txBox="1"/>
          <p:nvPr/>
        </p:nvSpPr>
        <p:spPr>
          <a:xfrm>
            <a:off x="9217655" y="6457890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-3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C3AC0-FBF7-23F4-409C-399F4DB6128A}"/>
              </a:ext>
            </a:extLst>
          </p:cNvPr>
          <p:cNvSpPr txBox="1"/>
          <p:nvPr/>
        </p:nvSpPr>
        <p:spPr>
          <a:xfrm>
            <a:off x="3948010" y="165678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5400" dirty="0">
                <a:solidFill>
                  <a:srgbClr val="6E80A5"/>
                </a:solidFill>
              </a:rPr>
              <a:t>Les requêtes API</a:t>
            </a:r>
            <a:endParaRPr lang="en-US" sz="5400" dirty="0">
              <a:solidFill>
                <a:srgbClr val="6E80A5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9D8F52-303E-4CBA-AD10-51B599C4A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095" y="1211823"/>
            <a:ext cx="9752381" cy="50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95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48528C-E21E-17D7-17B5-4B5CE2959294}"/>
              </a:ext>
            </a:extLst>
          </p:cNvPr>
          <p:cNvSpPr txBox="1"/>
          <p:nvPr/>
        </p:nvSpPr>
        <p:spPr>
          <a:xfrm>
            <a:off x="3836914" y="174223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5400" dirty="0">
                <a:solidFill>
                  <a:srgbClr val="6E80A5"/>
                </a:solidFill>
              </a:rPr>
              <a:t>Fiabilité des données </a:t>
            </a:r>
            <a:endParaRPr lang="en-US" sz="5400" dirty="0">
              <a:solidFill>
                <a:srgbClr val="6E80A5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FF47E-2DDE-4BD8-BBDA-98C6BEAAF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101" y="1688186"/>
            <a:ext cx="3481626" cy="34816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DB6DC2-A636-457B-A67D-411767F19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6146" y="6317901"/>
            <a:ext cx="3715268" cy="4286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EA4A6C-B001-4D2A-AD1E-E5DFB28CEEB7}"/>
              </a:ext>
            </a:extLst>
          </p:cNvPr>
          <p:cNvSpPr txBox="1"/>
          <p:nvPr/>
        </p:nvSpPr>
        <p:spPr>
          <a:xfrm>
            <a:off x="9164286" y="6457890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- 4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4C067A-760C-8398-9A48-0DABB38D0F93}"/>
              </a:ext>
            </a:extLst>
          </p:cNvPr>
          <p:cNvSpPr txBox="1"/>
          <p:nvPr/>
        </p:nvSpPr>
        <p:spPr>
          <a:xfrm>
            <a:off x="5950721" y="1940072"/>
            <a:ext cx="436581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Cohérence des données (respect d’un regex):</a:t>
            </a:r>
            <a:br>
              <a:rPr lang="en-US" sz="2400" dirty="0"/>
            </a:br>
            <a:r>
              <a:rPr lang="en-US" sz="2400" dirty="0"/>
              <a:t>adresse-mail, numéro de téléphone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Gestion des erreurs:</a:t>
            </a:r>
            <a:br>
              <a:rPr lang="en-US" sz="2400" dirty="0"/>
            </a:br>
            <a:r>
              <a:rPr lang="fr-FR" sz="2400" dirty="0"/>
              <a:t>Utilisation des statuts (400, 401, 403, 500, etc.) pour indiquer la nature du problème.</a:t>
            </a:r>
          </a:p>
        </p:txBody>
      </p:sp>
    </p:spTree>
    <p:extLst>
      <p:ext uri="{BB962C8B-B14F-4D97-AF65-F5344CB8AC3E}">
        <p14:creationId xmlns:p14="http://schemas.microsoft.com/office/powerpoint/2010/main" val="563044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362123-24C2-C0BE-9B20-CC850A639E16}"/>
              </a:ext>
            </a:extLst>
          </p:cNvPr>
          <p:cNvSpPr txBox="1"/>
          <p:nvPr/>
        </p:nvSpPr>
        <p:spPr>
          <a:xfrm>
            <a:off x="3836914" y="174223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i="0" dirty="0">
                <a:solidFill>
                  <a:srgbClr val="6E80A5"/>
                </a:solidFill>
                <a:effectLst/>
              </a:rPr>
              <a:t>S</a:t>
            </a:r>
            <a:r>
              <a:rPr lang="fr-FR" sz="5400" dirty="0">
                <a:solidFill>
                  <a:srgbClr val="6E80A5"/>
                </a:solidFill>
              </a:rPr>
              <a:t>é</a:t>
            </a:r>
            <a:r>
              <a:rPr lang="en-US" sz="5400" i="0" dirty="0">
                <a:solidFill>
                  <a:srgbClr val="6E80A5"/>
                </a:solidFill>
                <a:effectLst/>
              </a:rPr>
              <a:t>curit</a:t>
            </a:r>
            <a:r>
              <a:rPr lang="fr-FR" sz="5400" dirty="0">
                <a:solidFill>
                  <a:srgbClr val="6E80A5"/>
                </a:solidFill>
              </a:rPr>
              <a:t>é</a:t>
            </a:r>
            <a:r>
              <a:rPr lang="en-US" sz="5400" i="0" dirty="0">
                <a:solidFill>
                  <a:srgbClr val="6E80A5"/>
                </a:solidFill>
                <a:effectLst/>
              </a:rPr>
              <a:t> des </a:t>
            </a:r>
            <a:r>
              <a:rPr lang="en-US" sz="5400" dirty="0">
                <a:solidFill>
                  <a:srgbClr val="6E80A5"/>
                </a:solidFill>
              </a:rPr>
              <a:t>d</a:t>
            </a:r>
            <a:r>
              <a:rPr lang="en-US" sz="5400" i="0" dirty="0">
                <a:solidFill>
                  <a:srgbClr val="6E80A5"/>
                </a:solidFill>
                <a:effectLst/>
              </a:rPr>
              <a:t>onn</a:t>
            </a:r>
            <a:r>
              <a:rPr lang="fr-FR" sz="5400" dirty="0">
                <a:solidFill>
                  <a:srgbClr val="6E80A5"/>
                </a:solidFill>
              </a:rPr>
              <a:t>é</a:t>
            </a:r>
            <a:r>
              <a:rPr lang="en-US" sz="5400" i="0" dirty="0">
                <a:solidFill>
                  <a:srgbClr val="6E80A5"/>
                </a:solidFill>
                <a:effectLst/>
              </a:rPr>
              <a:t>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198DC7-9A71-4C38-AF71-4F8BF616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139" y="6190283"/>
            <a:ext cx="3673286" cy="4667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EA3A75-4604-458E-B486-1E5EE8E41D3D}"/>
              </a:ext>
            </a:extLst>
          </p:cNvPr>
          <p:cNvSpPr txBox="1"/>
          <p:nvPr/>
        </p:nvSpPr>
        <p:spPr>
          <a:xfrm>
            <a:off x="7861982" y="6283667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-2</a:t>
            </a:r>
            <a:endParaRPr lang="en-US" sz="2000" dirty="0">
              <a:solidFill>
                <a:srgbClr val="002060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749F0AB-3920-4E05-8A0C-01494C716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95629" y="1763302"/>
            <a:ext cx="5854652" cy="33313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E122D0-0ECD-4B94-9ED1-F04E2DC59F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1306" y="6283667"/>
            <a:ext cx="3714750" cy="4286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2F5423-36A1-4098-9171-476EAD2076A2}"/>
              </a:ext>
            </a:extLst>
          </p:cNvPr>
          <p:cNvSpPr txBox="1"/>
          <p:nvPr/>
        </p:nvSpPr>
        <p:spPr>
          <a:xfrm>
            <a:off x="9125908" y="6423678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- 5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19451E-DA5B-FB09-D55D-2B5FC0EA1FD7}"/>
              </a:ext>
            </a:extLst>
          </p:cNvPr>
          <p:cNvSpPr txBox="1"/>
          <p:nvPr/>
        </p:nvSpPr>
        <p:spPr>
          <a:xfrm>
            <a:off x="7170316" y="2120424"/>
            <a:ext cx="436581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Utilisation d’une API Key: </a:t>
            </a:r>
            <a:r>
              <a:rPr lang="fr-FR" sz="2400" dirty="0"/>
              <a:t>Vérification de l’identité des utilisateurs (OAuth 2.0, API Key, JWT).</a:t>
            </a:r>
            <a:r>
              <a:rPr lang="en-US" sz="2400" dirty="0"/>
              <a:t> </a:t>
            </a:r>
          </a:p>
          <a:p>
            <a:endParaRPr lang="fr-F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gestion des accès: </a:t>
            </a:r>
            <a:r>
              <a:rPr lang="fr-FR" sz="2400" dirty="0"/>
              <a:t>Définition des permissions pour chaque utilisateur.</a:t>
            </a:r>
          </a:p>
        </p:txBody>
      </p:sp>
    </p:spTree>
    <p:extLst>
      <p:ext uri="{BB962C8B-B14F-4D97-AF65-F5344CB8AC3E}">
        <p14:creationId xmlns:p14="http://schemas.microsoft.com/office/powerpoint/2010/main" val="97206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33333F-B7A6-064A-7DE0-83BF06D0DD42}"/>
              </a:ext>
            </a:extLst>
          </p:cNvPr>
          <p:cNvSpPr txBox="1"/>
          <p:nvPr/>
        </p:nvSpPr>
        <p:spPr>
          <a:xfrm>
            <a:off x="3905280" y="165677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i="0" dirty="0">
                <a:solidFill>
                  <a:srgbClr val="6E80A5"/>
                </a:solidFill>
                <a:effectLst/>
              </a:rPr>
              <a:t>Tracabilité des </a:t>
            </a:r>
            <a:r>
              <a:rPr lang="en-US" sz="5400" dirty="0">
                <a:solidFill>
                  <a:srgbClr val="6E80A5"/>
                </a:solidFill>
              </a:rPr>
              <a:t>d</a:t>
            </a:r>
            <a:r>
              <a:rPr lang="en-US" sz="5400" i="0" dirty="0">
                <a:solidFill>
                  <a:srgbClr val="6E80A5"/>
                </a:solidFill>
                <a:effectLst/>
              </a:rPr>
              <a:t>onnées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796D2-597E-49B2-B466-30E064CEE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122" y="1663444"/>
            <a:ext cx="3943490" cy="39434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7BA596-5A39-42BF-90BD-5FE090354CB6}"/>
              </a:ext>
            </a:extLst>
          </p:cNvPr>
          <p:cNvSpPr txBox="1"/>
          <p:nvPr/>
        </p:nvSpPr>
        <p:spPr>
          <a:xfrm>
            <a:off x="5755339" y="1999131"/>
            <a:ext cx="436581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Avoir un historique des actions</a:t>
            </a:r>
          </a:p>
          <a:p>
            <a:endParaRPr lang="fr-F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Table pour stocker les actions utilisateurs</a:t>
            </a:r>
          </a:p>
          <a:p>
            <a:endParaRPr lang="fr-F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Toutes requêtes api ont une traçabilité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38166A-20DE-4701-8478-E9C540829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996" y="6263698"/>
            <a:ext cx="3714750" cy="4286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6A82B8-8B6C-9540-B70C-13D7ADCB3FA4}"/>
              </a:ext>
            </a:extLst>
          </p:cNvPr>
          <p:cNvSpPr txBox="1"/>
          <p:nvPr/>
        </p:nvSpPr>
        <p:spPr>
          <a:xfrm>
            <a:off x="9108333" y="6457890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- 6</a:t>
            </a:r>
          </a:p>
        </p:txBody>
      </p:sp>
    </p:spTree>
    <p:extLst>
      <p:ext uri="{BB962C8B-B14F-4D97-AF65-F5344CB8AC3E}">
        <p14:creationId xmlns:p14="http://schemas.microsoft.com/office/powerpoint/2010/main" val="3665457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1E757-F7BB-46C1-8987-6D321823E939}"/>
              </a:ext>
            </a:extLst>
          </p:cNvPr>
          <p:cNvSpPr txBox="1"/>
          <p:nvPr/>
        </p:nvSpPr>
        <p:spPr>
          <a:xfrm>
            <a:off x="3905280" y="165677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5400" i="0" dirty="0">
                <a:solidFill>
                  <a:srgbClr val="6E80A5"/>
                </a:solidFill>
                <a:effectLst/>
              </a:rPr>
              <a:t>Lien académique</a:t>
            </a:r>
            <a:endParaRPr lang="en-US" sz="5400" i="0" dirty="0">
              <a:solidFill>
                <a:srgbClr val="6E80A5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FE593B-911B-9032-F06C-76EA1939D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397" y="6076162"/>
            <a:ext cx="3702918" cy="71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9F2135-2159-0D74-E4B6-AD9358BF9AAF}"/>
              </a:ext>
            </a:extLst>
          </p:cNvPr>
          <p:cNvSpPr txBox="1"/>
          <p:nvPr/>
        </p:nvSpPr>
        <p:spPr>
          <a:xfrm>
            <a:off x="1186985" y="1952490"/>
            <a:ext cx="43658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Requêtes Fetch</a:t>
            </a:r>
            <a:br>
              <a:rPr lang="en-US" sz="2400" dirty="0"/>
            </a:br>
            <a:endParaRPr lang="fr-F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21307C-5CB5-D428-7E4F-70FAE02715E3}"/>
              </a:ext>
            </a:extLst>
          </p:cNvPr>
          <p:cNvSpPr txBox="1"/>
          <p:nvPr/>
        </p:nvSpPr>
        <p:spPr>
          <a:xfrm>
            <a:off x="9099787" y="6434860"/>
            <a:ext cx="315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- 7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345F48-5618-552F-948B-2B6CD8F41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85" y="2554886"/>
            <a:ext cx="10507541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498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0B64CD-753B-4BF5-B4C1-B055AA0A54FB}"/>
              </a:ext>
            </a:extLst>
          </p:cNvPr>
          <p:cNvSpPr txBox="1"/>
          <p:nvPr/>
        </p:nvSpPr>
        <p:spPr>
          <a:xfrm>
            <a:off x="3953456" y="75611"/>
            <a:ext cx="7178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5400" dirty="0">
                <a:solidFill>
                  <a:srgbClr val="6E80A5"/>
                </a:solidFill>
              </a:rPr>
              <a:t>Conclusion</a:t>
            </a:r>
            <a:endParaRPr lang="en-US" sz="5400" dirty="0">
              <a:solidFill>
                <a:srgbClr val="6E80A5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8A8325-E6A8-441C-83D4-6224D7923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172" y="6280617"/>
            <a:ext cx="3714750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A0B9AE-FA2C-47BD-B65A-C29F578D3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0439" y="6166317"/>
            <a:ext cx="3219450" cy="5429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A5C624-EB3E-4190-9805-EEC5E5047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731" y="6280616"/>
            <a:ext cx="3714750" cy="4286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5B8B9C-835D-483C-AC33-DC847E691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180" y="6280616"/>
            <a:ext cx="3219450" cy="5429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20C7CD-F17D-421A-AF41-E42ED8DE0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777" y="2000292"/>
            <a:ext cx="3265341" cy="32653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718850-C04A-00BC-5448-379EB666A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803" y="6118609"/>
            <a:ext cx="3181794" cy="590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8DC43-1BF3-4BE7-6316-B2430E3E6F95}"/>
              </a:ext>
            </a:extLst>
          </p:cNvPr>
          <p:cNvSpPr txBox="1"/>
          <p:nvPr/>
        </p:nvSpPr>
        <p:spPr>
          <a:xfrm>
            <a:off x="9117106" y="6406072"/>
            <a:ext cx="30718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2060"/>
                </a:solidFill>
              </a:rPr>
              <a:t>E4 - Filière Informatique - 8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E2C741-B627-7F00-AB20-7FD6B9BF16B7}"/>
              </a:ext>
            </a:extLst>
          </p:cNvPr>
          <p:cNvSpPr txBox="1"/>
          <p:nvPr/>
        </p:nvSpPr>
        <p:spPr>
          <a:xfrm>
            <a:off x="5550239" y="2646682"/>
            <a:ext cx="436581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Découverte des technos actuels dans le développement web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Approfondissement de mes connaissances des APIs</a:t>
            </a:r>
          </a:p>
        </p:txBody>
      </p:sp>
    </p:spTree>
    <p:extLst>
      <p:ext uri="{BB962C8B-B14F-4D97-AF65-F5344CB8AC3E}">
        <p14:creationId xmlns:p14="http://schemas.microsoft.com/office/powerpoint/2010/main" val="17838220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7806</TotalTime>
  <Words>244</Words>
  <Application>Microsoft Office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ESIEE-Paris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PENSEE Vincent</dc:creator>
  <cp:lastModifiedBy>Yassine HAMROUNI</cp:lastModifiedBy>
  <cp:revision>68</cp:revision>
  <dcterms:created xsi:type="dcterms:W3CDTF">2020-02-28T12:10:52Z</dcterms:created>
  <dcterms:modified xsi:type="dcterms:W3CDTF">2025-03-26T02:23:40Z</dcterms:modified>
</cp:coreProperties>
</file>