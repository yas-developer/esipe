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2"/>
  </p:notesMasterIdLst>
  <p:handoutMasterIdLst>
    <p:handoutMasterId r:id="rId13"/>
  </p:handoutMasterIdLst>
  <p:sldIdLst>
    <p:sldId id="261" r:id="rId2"/>
    <p:sldId id="265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E80A5"/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533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234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56" d="100"/>
          <a:sy n="56" d="100"/>
        </p:scale>
        <p:origin x="2520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BED4CCFC-9194-481B-B048-F9AF851C57F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2271CEA-F2A7-4B15-A7CC-0C8AFC5F59D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55A8C8-005D-492D-8B79-008F48BB471C}" type="datetimeFigureOut">
              <a:rPr lang="fr-FR" smtClean="0"/>
              <a:t>14/03/2025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D790AAA-DCCC-4B14-8ACD-1B396C9861B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30D718F-76F7-44DD-BE7D-EEA554BC171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9E93B5-8C74-4AAD-84D3-1A6964811F7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998723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C28F05-4ED4-4022-A426-C7B97DD684FF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BC1A4D-17B1-4F08-9306-9DBC800553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773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nd bleu"/>
          <p:cNvSpPr/>
          <p:nvPr userDrawn="1"/>
        </p:nvSpPr>
        <p:spPr>
          <a:xfrm>
            <a:off x="0" y="2999940"/>
            <a:ext cx="12192000" cy="3858067"/>
          </a:xfrm>
          <a:custGeom>
            <a:avLst/>
            <a:gdLst/>
            <a:ahLst/>
            <a:cxnLst/>
            <a:rect l="l" t="t" r="r" b="b"/>
            <a:pathLst>
              <a:path w="9144000" h="3786504">
                <a:moveTo>
                  <a:pt x="0" y="0"/>
                </a:moveTo>
                <a:lnTo>
                  <a:pt x="9144000" y="0"/>
                </a:lnTo>
                <a:lnTo>
                  <a:pt x="9144000" y="3786187"/>
                </a:lnTo>
                <a:lnTo>
                  <a:pt x="0" y="3786187"/>
                </a:lnTo>
                <a:lnTo>
                  <a:pt x="0" y="0"/>
                </a:lnTo>
                <a:close/>
              </a:path>
            </a:pathLst>
          </a:custGeom>
          <a:solidFill>
            <a:srgbClr val="132C85"/>
          </a:solidFill>
        </p:spPr>
        <p:txBody>
          <a:bodyPr wrap="square" lIns="0" tIns="0" rIns="0" bIns="0" rtlCol="0"/>
          <a:lstStyle/>
          <a:p>
            <a:endParaRPr sz="1351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DBB19ED-218C-4324-A763-7F172D31EFF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59776" y="0"/>
            <a:ext cx="7010400" cy="3956304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3121" y="6230252"/>
            <a:ext cx="1054699" cy="627942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865" y="1883586"/>
            <a:ext cx="2163161" cy="427516"/>
          </a:xfrm>
          <a:prstGeom prst="rect">
            <a:avLst/>
          </a:prstGeom>
        </p:spPr>
      </p:pic>
      <p:pic>
        <p:nvPicPr>
          <p:cNvPr id="12" name="Image 11"/>
          <p:cNvPicPr>
            <a:picLocks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7005" y="6396638"/>
            <a:ext cx="1573055" cy="325299"/>
          </a:xfrm>
          <a:prstGeom prst="rect">
            <a:avLst/>
          </a:prstGeom>
        </p:spPr>
      </p:pic>
      <p:pic>
        <p:nvPicPr>
          <p:cNvPr id="13" name="Image 12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7984" y="6347077"/>
            <a:ext cx="1385923" cy="374858"/>
          </a:xfrm>
          <a:prstGeom prst="rect">
            <a:avLst/>
          </a:prstGeom>
        </p:spPr>
      </p:pic>
      <p:pic>
        <p:nvPicPr>
          <p:cNvPr id="21" name="Image 20"/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022" b="34092"/>
          <a:stretch/>
        </p:blipFill>
        <p:spPr>
          <a:xfrm rot="16200000">
            <a:off x="10778297" y="2547483"/>
            <a:ext cx="1043058" cy="1796461"/>
          </a:xfrm>
          <a:prstGeom prst="rect">
            <a:avLst/>
          </a:prstGeom>
        </p:spPr>
      </p:pic>
      <p:pic>
        <p:nvPicPr>
          <p:cNvPr id="22" name="Image 21"/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213"/>
          <a:stretch/>
        </p:blipFill>
        <p:spPr>
          <a:xfrm rot="5400000">
            <a:off x="10780804" y="4193734"/>
            <a:ext cx="1054623" cy="1813042"/>
          </a:xfrm>
          <a:prstGeom prst="rect">
            <a:avLst/>
          </a:prstGeom>
        </p:spPr>
      </p:pic>
      <p:pic>
        <p:nvPicPr>
          <p:cNvPr id="2" name="Image 1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587" y="451286"/>
            <a:ext cx="2429719" cy="974456"/>
          </a:xfrm>
          <a:prstGeom prst="rect">
            <a:avLst/>
          </a:prstGeom>
        </p:spPr>
      </p:pic>
      <p:pic>
        <p:nvPicPr>
          <p:cNvPr id="14" name="Image 13"/>
          <p:cNvPicPr>
            <a:picLocks noChangeAspect="1"/>
          </p:cNvPicPr>
          <p:nvPr userDrawn="1"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962"/>
          <a:stretch/>
        </p:blipFill>
        <p:spPr>
          <a:xfrm>
            <a:off x="5353051" y="0"/>
            <a:ext cx="851431" cy="1194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1008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31248"/>
            <a:ext cx="867547" cy="347935"/>
          </a:xfrm>
          <a:prstGeom prst="rect">
            <a:avLst/>
          </a:prstGeom>
        </p:spPr>
      </p:pic>
      <p:cxnSp>
        <p:nvCxnSpPr>
          <p:cNvPr id="10" name="Connecteur droit 9"/>
          <p:cNvCxnSpPr/>
          <p:nvPr userDrawn="1"/>
        </p:nvCxnSpPr>
        <p:spPr>
          <a:xfrm>
            <a:off x="3939612" y="1093862"/>
            <a:ext cx="8357787" cy="0"/>
          </a:xfrm>
          <a:prstGeom prst="line">
            <a:avLst/>
          </a:prstGeom>
          <a:ln w="12700">
            <a:solidFill>
              <a:srgbClr val="0E2166"/>
            </a:soli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Image 10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" y="95699"/>
            <a:ext cx="841321" cy="5482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046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C8ADCDD5-A3A1-499C-86BE-0F859326D639}"/>
              </a:ext>
            </a:extLst>
          </p:cNvPr>
          <p:cNvSpPr txBox="1"/>
          <p:nvPr userDrawn="1"/>
        </p:nvSpPr>
        <p:spPr>
          <a:xfrm>
            <a:off x="7446897" y="6308207"/>
            <a:ext cx="39069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002060"/>
                </a:solidFill>
              </a:rPr>
              <a:t>E4 – Filière &lt;nom de votre filière&gt; - </a:t>
            </a:r>
            <a:fld id="{E1BCAF07-BFB2-461F-9C13-93FCE9B88D5C}" type="slidenum">
              <a:rPr lang="fr-FR" smtClean="0">
                <a:solidFill>
                  <a:srgbClr val="002060"/>
                </a:solidFill>
              </a:rPr>
              <a:t>‹#›</a:t>
            </a:fld>
            <a:endParaRPr lang="fr-FR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7483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5" r:id="rId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8614B00D-E48B-4D04-999E-B5D76D91FA23}"/>
              </a:ext>
            </a:extLst>
          </p:cNvPr>
          <p:cNvSpPr txBox="1"/>
          <p:nvPr/>
        </p:nvSpPr>
        <p:spPr>
          <a:xfrm>
            <a:off x="2855342" y="4054415"/>
            <a:ext cx="7504983" cy="19645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800" b="1" dirty="0">
                <a:solidFill>
                  <a:schemeClr val="bg1"/>
                </a:solidFill>
              </a:rPr>
              <a:t>Exercice Scientifique et technique </a:t>
            </a:r>
          </a:p>
          <a:p>
            <a:pPr>
              <a:lnSpc>
                <a:spcPct val="150000"/>
              </a:lnSpc>
            </a:pPr>
            <a:r>
              <a:rPr lang="fr-FR" sz="2800" b="1" dirty="0">
                <a:solidFill>
                  <a:schemeClr val="bg1"/>
                </a:solidFill>
              </a:rPr>
              <a:t>Développement d’une API fiable et sécurisée</a:t>
            </a:r>
          </a:p>
          <a:p>
            <a:pPr>
              <a:lnSpc>
                <a:spcPct val="150000"/>
              </a:lnSpc>
            </a:pPr>
            <a:r>
              <a:rPr lang="fr-FR" sz="2800" b="1" dirty="0">
                <a:solidFill>
                  <a:schemeClr val="bg1"/>
                </a:solidFill>
              </a:rPr>
              <a:t>Hamrouni Yassine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4D7A0B8-2A6C-42F0-924A-A7A3B5B95A39}"/>
              </a:ext>
            </a:extLst>
          </p:cNvPr>
          <p:cNvSpPr/>
          <p:nvPr/>
        </p:nvSpPr>
        <p:spPr>
          <a:xfrm>
            <a:off x="319177" y="3558396"/>
            <a:ext cx="2196000" cy="22989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rgbClr val="002060"/>
                </a:solidFill>
              </a:rPr>
              <a:t>Mettre ici le logo de votre entreprise</a:t>
            </a:r>
          </a:p>
        </p:txBody>
      </p:sp>
      <p:pic>
        <p:nvPicPr>
          <p:cNvPr id="7" name="Picture 6" descr="A blue and white logo&#10;&#10;AI-generated content may be incorrect.">
            <a:extLst>
              <a:ext uri="{FF2B5EF4-FFF2-40B4-BE49-F238E27FC236}">
                <a16:creationId xmlns:a16="http://schemas.microsoft.com/office/drawing/2014/main" id="{52448338-DFD6-3243-4C5A-7A0448E9B8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177" y="3558396"/>
            <a:ext cx="2196000" cy="2420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3547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256D09A-2244-E10F-4E9B-EB75AD6BCC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7312" y="6015953"/>
            <a:ext cx="4039164" cy="67636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6D44E8E-EC45-93B2-3C28-06AF317BD5C4}"/>
              </a:ext>
            </a:extLst>
          </p:cNvPr>
          <p:cNvSpPr txBox="1"/>
          <p:nvPr/>
        </p:nvSpPr>
        <p:spPr>
          <a:xfrm>
            <a:off x="7427646" y="6292212"/>
            <a:ext cx="31533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rgbClr val="002060"/>
                </a:solidFill>
              </a:rPr>
              <a:t>E4 - Filière Informatique -2</a:t>
            </a:r>
            <a:endParaRPr lang="en-US" sz="2000" dirty="0">
              <a:solidFill>
                <a:srgbClr val="00206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B21FCF-3A35-761D-F15E-9400CEDD8DD2}"/>
              </a:ext>
            </a:extLst>
          </p:cNvPr>
          <p:cNvSpPr txBox="1"/>
          <p:nvPr/>
        </p:nvSpPr>
        <p:spPr>
          <a:xfrm>
            <a:off x="3948010" y="165678"/>
            <a:ext cx="717846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dirty="0">
                <a:solidFill>
                  <a:srgbClr val="6E80A5"/>
                </a:solidFill>
              </a:rPr>
              <a:t>Qu’est ce qu’une API ?</a:t>
            </a:r>
          </a:p>
        </p:txBody>
      </p:sp>
    </p:spTree>
    <p:extLst>
      <p:ext uri="{BB962C8B-B14F-4D97-AF65-F5344CB8AC3E}">
        <p14:creationId xmlns:p14="http://schemas.microsoft.com/office/powerpoint/2010/main" val="22572100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1C047-A1D9-9658-965E-3AF624750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4E21852-6871-4248-8F31-2B18CCEDCD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7312" y="6015953"/>
            <a:ext cx="4039164" cy="67636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5A5EE1A-8E4D-D6CB-B7F2-DBC5F3AE37CD}"/>
              </a:ext>
            </a:extLst>
          </p:cNvPr>
          <p:cNvSpPr txBox="1"/>
          <p:nvPr/>
        </p:nvSpPr>
        <p:spPr>
          <a:xfrm>
            <a:off x="7427646" y="6292212"/>
            <a:ext cx="31533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rgbClr val="002060"/>
                </a:solidFill>
              </a:rPr>
              <a:t>E4 - Filière Informatique -2</a:t>
            </a:r>
            <a:endParaRPr lang="en-US" sz="2000" dirty="0">
              <a:solidFill>
                <a:srgbClr val="00206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0C3AC0-FBF7-23F4-409C-399F4DB6128A}"/>
              </a:ext>
            </a:extLst>
          </p:cNvPr>
          <p:cNvSpPr txBox="1"/>
          <p:nvPr/>
        </p:nvSpPr>
        <p:spPr>
          <a:xfrm>
            <a:off x="3948010" y="165678"/>
            <a:ext cx="717846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5400" dirty="0">
                <a:solidFill>
                  <a:srgbClr val="6E80A5"/>
                </a:solidFill>
              </a:rPr>
              <a:t>Les requêtes API</a:t>
            </a:r>
            <a:endParaRPr lang="en-US" sz="5400" dirty="0">
              <a:solidFill>
                <a:srgbClr val="6E80A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69514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48528C-E21E-17D7-17B5-4B5CE2959294}"/>
              </a:ext>
            </a:extLst>
          </p:cNvPr>
          <p:cNvSpPr txBox="1"/>
          <p:nvPr/>
        </p:nvSpPr>
        <p:spPr>
          <a:xfrm>
            <a:off x="3836914" y="174223"/>
            <a:ext cx="717846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5400" dirty="0">
                <a:solidFill>
                  <a:srgbClr val="6E80A5"/>
                </a:solidFill>
              </a:rPr>
              <a:t>Fiabilité des données </a:t>
            </a:r>
            <a:endParaRPr lang="en-US" sz="5400" dirty="0">
              <a:solidFill>
                <a:srgbClr val="6E80A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30448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A362123-24C2-C0BE-9B20-CC850A639E16}"/>
              </a:ext>
            </a:extLst>
          </p:cNvPr>
          <p:cNvSpPr txBox="1"/>
          <p:nvPr/>
        </p:nvSpPr>
        <p:spPr>
          <a:xfrm>
            <a:off x="3836914" y="174223"/>
            <a:ext cx="717846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i="0" dirty="0">
                <a:solidFill>
                  <a:srgbClr val="6E80A5"/>
                </a:solidFill>
                <a:effectLst/>
              </a:rPr>
              <a:t>S</a:t>
            </a:r>
            <a:r>
              <a:rPr lang="fr-FR" sz="5400" dirty="0">
                <a:solidFill>
                  <a:srgbClr val="6E80A5"/>
                </a:solidFill>
              </a:rPr>
              <a:t>é</a:t>
            </a:r>
            <a:r>
              <a:rPr lang="en-US" sz="5400" i="0" dirty="0">
                <a:solidFill>
                  <a:srgbClr val="6E80A5"/>
                </a:solidFill>
                <a:effectLst/>
              </a:rPr>
              <a:t>curit</a:t>
            </a:r>
            <a:r>
              <a:rPr lang="fr-FR" sz="5400" dirty="0">
                <a:solidFill>
                  <a:srgbClr val="6E80A5"/>
                </a:solidFill>
              </a:rPr>
              <a:t>é</a:t>
            </a:r>
            <a:r>
              <a:rPr lang="en-US" sz="5400" i="0" dirty="0">
                <a:solidFill>
                  <a:srgbClr val="6E80A5"/>
                </a:solidFill>
                <a:effectLst/>
              </a:rPr>
              <a:t> des </a:t>
            </a:r>
            <a:r>
              <a:rPr lang="en-US" sz="5400" dirty="0">
                <a:solidFill>
                  <a:srgbClr val="6E80A5"/>
                </a:solidFill>
              </a:rPr>
              <a:t>d</a:t>
            </a:r>
            <a:r>
              <a:rPr lang="en-US" sz="5400" i="0" dirty="0">
                <a:solidFill>
                  <a:srgbClr val="6E80A5"/>
                </a:solidFill>
                <a:effectLst/>
              </a:rPr>
              <a:t>onn</a:t>
            </a:r>
            <a:r>
              <a:rPr lang="fr-FR" sz="5400" dirty="0">
                <a:solidFill>
                  <a:srgbClr val="6E80A5"/>
                </a:solidFill>
              </a:rPr>
              <a:t>é</a:t>
            </a:r>
            <a:r>
              <a:rPr lang="en-US" sz="5400" i="0" dirty="0">
                <a:solidFill>
                  <a:srgbClr val="6E80A5"/>
                </a:solidFill>
                <a:effectLst/>
              </a:rPr>
              <a:t>es</a:t>
            </a:r>
          </a:p>
        </p:txBody>
      </p:sp>
    </p:spTree>
    <p:extLst>
      <p:ext uri="{BB962C8B-B14F-4D97-AF65-F5344CB8AC3E}">
        <p14:creationId xmlns:p14="http://schemas.microsoft.com/office/powerpoint/2010/main" val="97206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33333F-B7A6-064A-7DE0-83BF06D0DD42}"/>
              </a:ext>
            </a:extLst>
          </p:cNvPr>
          <p:cNvSpPr txBox="1"/>
          <p:nvPr/>
        </p:nvSpPr>
        <p:spPr>
          <a:xfrm>
            <a:off x="3905280" y="165677"/>
            <a:ext cx="717846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i="0" dirty="0">
                <a:solidFill>
                  <a:srgbClr val="6E80A5"/>
                </a:solidFill>
                <a:effectLst/>
              </a:rPr>
              <a:t>Tracabilité des </a:t>
            </a:r>
            <a:r>
              <a:rPr lang="en-US" sz="5400" dirty="0">
                <a:solidFill>
                  <a:srgbClr val="6E80A5"/>
                </a:solidFill>
              </a:rPr>
              <a:t>d</a:t>
            </a:r>
            <a:r>
              <a:rPr lang="en-US" sz="5400" i="0" dirty="0">
                <a:solidFill>
                  <a:srgbClr val="6E80A5"/>
                </a:solidFill>
                <a:effectLst/>
              </a:rPr>
              <a:t>onnées</a:t>
            </a:r>
          </a:p>
        </p:txBody>
      </p:sp>
    </p:spTree>
    <p:extLst>
      <p:ext uri="{BB962C8B-B14F-4D97-AF65-F5344CB8AC3E}">
        <p14:creationId xmlns:p14="http://schemas.microsoft.com/office/powerpoint/2010/main" val="3665457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38220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50422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59648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649108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7624</TotalTime>
  <Words>53</Words>
  <Application>Microsoft Office PowerPoint</Application>
  <PresentationFormat>Widescreen</PresentationFormat>
  <Paragraphs>11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Calibri</vt:lpstr>
      <vt:lpstr>Calibri Light</vt:lpstr>
      <vt:lpstr>Thème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ESIEE-Paris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PENSEE Vincent</dc:creator>
  <cp:lastModifiedBy>Yassine HAMROUNI</cp:lastModifiedBy>
  <cp:revision>43</cp:revision>
  <dcterms:created xsi:type="dcterms:W3CDTF">2020-02-28T12:10:52Z</dcterms:created>
  <dcterms:modified xsi:type="dcterms:W3CDTF">2025-03-14T14:07:13Z</dcterms:modified>
</cp:coreProperties>
</file>